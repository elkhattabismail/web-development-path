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7" r:id="rId7"/>
    <p:sldId id="261"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8" d="100"/>
          <a:sy n="108" d="100"/>
        </p:scale>
        <p:origin x="-276"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FA868E73-ACFE-4BA5-A293-585923799D80}" type="datetimeFigureOut">
              <a:rPr lang="fr-FR" smtClean="0"/>
              <a:t>28/03/2026</a:t>
            </a:fld>
            <a:endParaRPr lang="fr-FR"/>
          </a:p>
        </p:txBody>
      </p:sp>
      <p:sp>
        <p:nvSpPr>
          <p:cNvPr id="4" name="Espace réservé de l'image des diapositives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B194345E-5E3F-42AF-A855-34DF61C1E32E}" type="slidenum">
              <a:rPr lang="fr-FR" smtClean="0"/>
              <a:t>‹N°›</a:t>
            </a:fld>
            <a:endParaRPr lang="fr-FR"/>
          </a:p>
        </p:txBody>
      </p:sp>
    </p:spTree>
    <p:extLst>
      <p:ext uri="{BB962C8B-B14F-4D97-AF65-F5344CB8AC3E}">
        <p14:creationId xmlns:p14="http://schemas.microsoft.com/office/powerpoint/2010/main" val="22809743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5133"/>
          </a:solidFill>
          <a:ln w="12700">
            <a:solidFill>
              <a:srgbClr val="F05133"/>
            </a:solidFill>
            <a:prstDash val="solid"/>
          </a:ln>
        </p:spPr>
      </p:sp>
      <p:sp>
        <p:nvSpPr>
          <p:cNvPr id="3" name="Shape 1"/>
          <p:cNvSpPr/>
          <p:nvPr/>
        </p:nvSpPr>
        <p:spPr>
          <a:xfrm>
            <a:off x="0" y="0"/>
            <a:ext cx="54864" cy="5143500"/>
          </a:xfrm>
          <a:prstGeom prst="rect">
            <a:avLst/>
          </a:prstGeom>
          <a:solidFill>
            <a:srgbClr val="F05133"/>
          </a:solidFill>
          <a:ln w="12700">
            <a:solidFill>
              <a:srgbClr val="F05133"/>
            </a:solidFill>
            <a:prstDash val="solid"/>
          </a:ln>
        </p:spPr>
      </p:sp>
      <p:sp>
        <p:nvSpPr>
          <p:cNvPr id="4" name="Shape 2"/>
          <p:cNvSpPr/>
          <p:nvPr/>
        </p:nvSpPr>
        <p:spPr>
          <a:xfrm>
            <a:off x="3474720" y="365760"/>
            <a:ext cx="2194560" cy="2194560"/>
          </a:xfrm>
          <a:prstGeom prst="ellipse">
            <a:avLst/>
          </a:prstGeom>
          <a:solidFill>
            <a:srgbClr val="F05133"/>
          </a:solidFill>
          <a:ln w="12700">
            <a:solidFill>
              <a:srgbClr val="F05133"/>
            </a:solidFill>
            <a:prstDash val="solid"/>
          </a:ln>
          <a:effectLst>
            <a:outerShdw blurRad="101600" dist="38100" dir="8100000" algn="bl" rotWithShape="0">
              <a:srgbClr val="000000">
                <a:alpha val="30000"/>
              </a:srgbClr>
            </a:outerShdw>
          </a:effectLst>
        </p:spPr>
      </p:sp>
      <p:pic>
        <p:nvPicPr>
          <p:cNvPr id="5" name="Image 0" descr="preencoded.png"/>
          <p:cNvPicPr>
            <a:picLocks noChangeAspect="1"/>
          </p:cNvPicPr>
          <p:nvPr/>
        </p:nvPicPr>
        <p:blipFill>
          <a:blip r:embed="rId3"/>
          <a:stretch>
            <a:fillRect/>
          </a:stretch>
        </p:blipFill>
        <p:spPr>
          <a:xfrm>
            <a:off x="3749040" y="594360"/>
            <a:ext cx="1645920" cy="1645920"/>
          </a:xfrm>
          <a:prstGeom prst="rect">
            <a:avLst/>
          </a:prstGeom>
        </p:spPr>
      </p:pic>
      <p:sp>
        <p:nvSpPr>
          <p:cNvPr id="6" name="Text 3"/>
          <p:cNvSpPr/>
          <p:nvPr/>
        </p:nvSpPr>
        <p:spPr>
          <a:xfrm>
            <a:off x="457200" y="2697480"/>
            <a:ext cx="8229600" cy="822960"/>
          </a:xfrm>
          <a:prstGeom prst="rect">
            <a:avLst/>
          </a:prstGeom>
          <a:noFill/>
          <a:ln/>
        </p:spPr>
        <p:txBody>
          <a:bodyPr wrap="square" lIns="0" tIns="0" rIns="0" bIns="0" rtlCol="0" anchor="ctr"/>
          <a:lstStyle/>
          <a:p>
            <a:pPr marL="0" indent="0" algn="ctr">
              <a:buNone/>
            </a:pPr>
            <a:r>
              <a:rPr lang="en-US" sz="4800" b="1" dirty="0">
                <a:solidFill>
                  <a:srgbClr val="FFFFFF"/>
                </a:solidFill>
                <a:latin typeface="Arial Black" pitchFamily="34" charset="0"/>
                <a:ea typeface="Arial Black" pitchFamily="34" charset="-122"/>
                <a:cs typeface="Arial Black" pitchFamily="34" charset="-120"/>
              </a:rPr>
              <a:t>Git &amp; GitHub</a:t>
            </a:r>
            <a:endParaRPr lang="en-US" sz="4800" dirty="0"/>
          </a:p>
        </p:txBody>
      </p:sp>
      <p:sp>
        <p:nvSpPr>
          <p:cNvPr id="7" name="Text 4"/>
          <p:cNvSpPr/>
          <p:nvPr/>
        </p:nvSpPr>
        <p:spPr>
          <a:xfrm>
            <a:off x="457200" y="3474720"/>
            <a:ext cx="8229600" cy="502920"/>
          </a:xfrm>
          <a:prstGeom prst="rect">
            <a:avLst/>
          </a:prstGeom>
          <a:noFill/>
          <a:ln/>
        </p:spPr>
        <p:txBody>
          <a:bodyPr wrap="square" lIns="0" tIns="0" rIns="0" bIns="0" rtlCol="0" anchor="ctr"/>
          <a:lstStyle/>
          <a:p>
            <a:pPr marL="0" indent="0" algn="ctr">
              <a:buNone/>
            </a:pPr>
            <a:r>
              <a:rPr lang="en-US" sz="1800" b="1" dirty="0">
                <a:solidFill>
                  <a:srgbClr val="F05133"/>
                </a:solidFill>
                <a:latin typeface="Calibri" pitchFamily="34" charset="0"/>
                <a:ea typeface="Calibri" pitchFamily="34" charset="-122"/>
                <a:cs typeface="Calibri" pitchFamily="34" charset="-120"/>
              </a:rPr>
              <a:t>Maîtriser le Contrôle de Version et la Collaboration 🚀</a:t>
            </a:r>
            <a:endParaRPr lang="en-US" sz="1800" dirty="0"/>
          </a:p>
        </p:txBody>
      </p:sp>
      <p:sp>
        <p:nvSpPr>
          <p:cNvPr id="9" name="Shape 6"/>
          <p:cNvSpPr/>
          <p:nvPr/>
        </p:nvSpPr>
        <p:spPr>
          <a:xfrm>
            <a:off x="0" y="4983480"/>
            <a:ext cx="9144000" cy="160020"/>
          </a:xfrm>
          <a:prstGeom prst="rect">
            <a:avLst/>
          </a:prstGeom>
          <a:solidFill>
            <a:srgbClr val="161B22"/>
          </a:solidFill>
          <a:ln w="12700">
            <a:solidFill>
              <a:srgbClr val="161B22"/>
            </a:solidFill>
            <a:prstDash val="solid"/>
          </a:ln>
        </p:spPr>
      </p:sp>
      <p:sp>
        <p:nvSpPr>
          <p:cNvPr id="10" name="Text 7"/>
          <p:cNvSpPr/>
          <p:nvPr/>
        </p:nvSpPr>
        <p:spPr>
          <a:xfrm>
            <a:off x="274320" y="4992624"/>
            <a:ext cx="8595360" cy="128016"/>
          </a:xfrm>
          <a:prstGeom prst="rect">
            <a:avLst/>
          </a:prstGeom>
          <a:noFill/>
          <a:ln/>
        </p:spPr>
        <p:txBody>
          <a:bodyPr wrap="square" lIns="0" tIns="0" rIns="0" bIns="0" rtlCol="0" anchor="ctr"/>
          <a:lstStyle/>
          <a:p>
            <a:pPr marL="0" indent="0" algn="l">
              <a:buNone/>
            </a:pPr>
            <a:r>
              <a:rPr lang="en-US" sz="1000" dirty="0">
                <a:solidFill>
                  <a:srgbClr val="3FB950"/>
                </a:solidFill>
                <a:latin typeface="Consolas" pitchFamily="34" charset="0"/>
                <a:ea typeface="Consolas" pitchFamily="34" charset="-122"/>
                <a:cs typeface="Consolas" pitchFamily="34" charset="-120"/>
              </a:rPr>
              <a:t>git commit -m "Mon premier cours sur Git"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5133"/>
          </a:solidFill>
          <a:ln w="12700">
            <a:solidFill>
              <a:srgbClr val="F05133"/>
            </a:solidFill>
            <a:prstDash val="solid"/>
          </a:ln>
        </p:spPr>
      </p:sp>
      <p:sp>
        <p:nvSpPr>
          <p:cNvPr id="3" name="Text 1"/>
          <p:cNvSpPr/>
          <p:nvPr/>
        </p:nvSpPr>
        <p:spPr>
          <a:xfrm>
            <a:off x="365760" y="182880"/>
            <a:ext cx="8412480" cy="640080"/>
          </a:xfrm>
          <a:prstGeom prst="rect">
            <a:avLst/>
          </a:prstGeom>
          <a:noFill/>
          <a:ln/>
        </p:spPr>
        <p:txBody>
          <a:bodyPr wrap="square" lIns="0" tIns="0" rIns="0" bIns="0" rtlCol="0" anchor="ctr"/>
          <a:lstStyle/>
          <a:p>
            <a:pPr marL="0" indent="0">
              <a:buNone/>
            </a:pPr>
            <a:r>
              <a:rPr lang="en-US" sz="3200" b="1" dirty="0">
                <a:solidFill>
                  <a:srgbClr val="FFFFFF"/>
                </a:solidFill>
                <a:latin typeface="Arial Black" pitchFamily="34" charset="0"/>
                <a:ea typeface="Arial Black" pitchFamily="34" charset="-122"/>
                <a:cs typeface="Arial Black" pitchFamily="34" charset="-120"/>
              </a:rPr>
              <a:t>📋 Au Programme</a:t>
            </a:r>
            <a:endParaRPr lang="en-US" sz="3200" dirty="0"/>
          </a:p>
        </p:txBody>
      </p:sp>
      <p:sp>
        <p:nvSpPr>
          <p:cNvPr id="4" name="Shape 2"/>
          <p:cNvSpPr/>
          <p:nvPr/>
        </p:nvSpPr>
        <p:spPr>
          <a:xfrm>
            <a:off x="365760" y="1005840"/>
            <a:ext cx="8412480" cy="658368"/>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5" name="Shape 3"/>
          <p:cNvSpPr/>
          <p:nvPr/>
        </p:nvSpPr>
        <p:spPr>
          <a:xfrm>
            <a:off x="365760" y="1005840"/>
            <a:ext cx="73152" cy="658368"/>
          </a:xfrm>
          <a:prstGeom prst="rect">
            <a:avLst/>
          </a:prstGeom>
          <a:solidFill>
            <a:srgbClr val="F05133"/>
          </a:solidFill>
          <a:ln w="12700">
            <a:solidFill>
              <a:srgbClr val="F05133"/>
            </a:solidFill>
            <a:prstDash val="solid"/>
          </a:ln>
        </p:spPr>
      </p:sp>
      <p:sp>
        <p:nvSpPr>
          <p:cNvPr id="6" name="Shape 4"/>
          <p:cNvSpPr/>
          <p:nvPr/>
        </p:nvSpPr>
        <p:spPr>
          <a:xfrm>
            <a:off x="548640" y="1115568"/>
            <a:ext cx="475488" cy="438912"/>
          </a:xfrm>
          <a:prstGeom prst="rect">
            <a:avLst/>
          </a:prstGeom>
          <a:solidFill>
            <a:srgbClr val="F05133"/>
          </a:solidFill>
          <a:ln w="12700">
            <a:solidFill>
              <a:srgbClr val="F05133"/>
            </a:solidFill>
            <a:prstDash val="solid"/>
          </a:ln>
        </p:spPr>
      </p:sp>
      <p:sp>
        <p:nvSpPr>
          <p:cNvPr id="7" name="Text 5"/>
          <p:cNvSpPr/>
          <p:nvPr/>
        </p:nvSpPr>
        <p:spPr>
          <a:xfrm>
            <a:off x="548640" y="1115568"/>
            <a:ext cx="475488"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01</a:t>
            </a:r>
            <a:endParaRPr lang="en-US" sz="1500" dirty="0"/>
          </a:p>
        </p:txBody>
      </p:sp>
      <p:sp>
        <p:nvSpPr>
          <p:cNvPr id="8" name="Text 6"/>
          <p:cNvSpPr/>
          <p:nvPr/>
        </p:nvSpPr>
        <p:spPr>
          <a:xfrm>
            <a:off x="1115568" y="1069848"/>
            <a:ext cx="7223760"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  Qu'est-ce que Git ?</a:t>
            </a:r>
            <a:endParaRPr lang="en-US" sz="1500" dirty="0"/>
          </a:p>
        </p:txBody>
      </p:sp>
      <p:sp>
        <p:nvSpPr>
          <p:cNvPr id="9" name="Text 7"/>
          <p:cNvSpPr/>
          <p:nvPr/>
        </p:nvSpPr>
        <p:spPr>
          <a:xfrm>
            <a:off x="1115568" y="1353312"/>
            <a:ext cx="7223760" cy="237744"/>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Historique, définition et pourquoi c'est essentiel</a:t>
            </a:r>
            <a:endParaRPr lang="en-US" sz="1100" dirty="0"/>
          </a:p>
        </p:txBody>
      </p:sp>
      <p:sp>
        <p:nvSpPr>
          <p:cNvPr id="10" name="Shape 8"/>
          <p:cNvSpPr/>
          <p:nvPr/>
        </p:nvSpPr>
        <p:spPr>
          <a:xfrm>
            <a:off x="365760" y="1783080"/>
            <a:ext cx="8412480" cy="658368"/>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1" name="Shape 9"/>
          <p:cNvSpPr/>
          <p:nvPr/>
        </p:nvSpPr>
        <p:spPr>
          <a:xfrm>
            <a:off x="365760" y="1783080"/>
            <a:ext cx="73152" cy="658368"/>
          </a:xfrm>
          <a:prstGeom prst="rect">
            <a:avLst/>
          </a:prstGeom>
          <a:solidFill>
            <a:srgbClr val="58A6FF"/>
          </a:solidFill>
          <a:ln w="12700">
            <a:solidFill>
              <a:srgbClr val="58A6FF"/>
            </a:solidFill>
            <a:prstDash val="solid"/>
          </a:ln>
        </p:spPr>
      </p:sp>
      <p:sp>
        <p:nvSpPr>
          <p:cNvPr id="12" name="Shape 10"/>
          <p:cNvSpPr/>
          <p:nvPr/>
        </p:nvSpPr>
        <p:spPr>
          <a:xfrm>
            <a:off x="548640" y="1892808"/>
            <a:ext cx="475488" cy="438912"/>
          </a:xfrm>
          <a:prstGeom prst="rect">
            <a:avLst/>
          </a:prstGeom>
          <a:solidFill>
            <a:srgbClr val="58A6FF"/>
          </a:solidFill>
          <a:ln w="12700">
            <a:solidFill>
              <a:srgbClr val="58A6FF"/>
            </a:solidFill>
            <a:prstDash val="solid"/>
          </a:ln>
        </p:spPr>
      </p:sp>
      <p:sp>
        <p:nvSpPr>
          <p:cNvPr id="13" name="Text 11"/>
          <p:cNvSpPr/>
          <p:nvPr/>
        </p:nvSpPr>
        <p:spPr>
          <a:xfrm>
            <a:off x="548640" y="1892808"/>
            <a:ext cx="475488"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02</a:t>
            </a:r>
            <a:endParaRPr lang="en-US" sz="1500" dirty="0"/>
          </a:p>
        </p:txBody>
      </p:sp>
      <p:sp>
        <p:nvSpPr>
          <p:cNvPr id="14" name="Text 12"/>
          <p:cNvSpPr/>
          <p:nvPr/>
        </p:nvSpPr>
        <p:spPr>
          <a:xfrm>
            <a:off x="1115568" y="1847088"/>
            <a:ext cx="7223760"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  Les Commandes Git Essentielles</a:t>
            </a:r>
            <a:endParaRPr lang="en-US" sz="1500" dirty="0"/>
          </a:p>
        </p:txBody>
      </p:sp>
      <p:sp>
        <p:nvSpPr>
          <p:cNvPr id="15" name="Text 13"/>
          <p:cNvSpPr/>
          <p:nvPr/>
        </p:nvSpPr>
        <p:spPr>
          <a:xfrm>
            <a:off x="1115568" y="2130552"/>
            <a:ext cx="7223760" cy="237744"/>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init, add, commit, push, pull et bien plus</a:t>
            </a:r>
            <a:endParaRPr lang="en-US" sz="1100" dirty="0"/>
          </a:p>
        </p:txBody>
      </p:sp>
      <p:sp>
        <p:nvSpPr>
          <p:cNvPr id="16" name="Shape 14"/>
          <p:cNvSpPr/>
          <p:nvPr/>
        </p:nvSpPr>
        <p:spPr>
          <a:xfrm>
            <a:off x="365760" y="2560320"/>
            <a:ext cx="8412480" cy="658368"/>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7" name="Shape 15"/>
          <p:cNvSpPr/>
          <p:nvPr/>
        </p:nvSpPr>
        <p:spPr>
          <a:xfrm>
            <a:off x="365760" y="2560320"/>
            <a:ext cx="73152" cy="658368"/>
          </a:xfrm>
          <a:prstGeom prst="rect">
            <a:avLst/>
          </a:prstGeom>
          <a:solidFill>
            <a:srgbClr val="3FB950"/>
          </a:solidFill>
          <a:ln w="12700">
            <a:solidFill>
              <a:srgbClr val="3FB950"/>
            </a:solidFill>
            <a:prstDash val="solid"/>
          </a:ln>
        </p:spPr>
      </p:sp>
      <p:sp>
        <p:nvSpPr>
          <p:cNvPr id="18" name="Shape 16"/>
          <p:cNvSpPr/>
          <p:nvPr/>
        </p:nvSpPr>
        <p:spPr>
          <a:xfrm>
            <a:off x="548640" y="2670048"/>
            <a:ext cx="475488" cy="438912"/>
          </a:xfrm>
          <a:prstGeom prst="rect">
            <a:avLst/>
          </a:prstGeom>
          <a:solidFill>
            <a:srgbClr val="3FB950"/>
          </a:solidFill>
          <a:ln w="12700">
            <a:solidFill>
              <a:srgbClr val="3FB950"/>
            </a:solidFill>
            <a:prstDash val="solid"/>
          </a:ln>
        </p:spPr>
      </p:sp>
      <p:sp>
        <p:nvSpPr>
          <p:cNvPr id="19" name="Text 17"/>
          <p:cNvSpPr/>
          <p:nvPr/>
        </p:nvSpPr>
        <p:spPr>
          <a:xfrm>
            <a:off x="548640" y="2670048"/>
            <a:ext cx="475488"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03</a:t>
            </a:r>
            <a:endParaRPr lang="en-US" sz="1500" dirty="0"/>
          </a:p>
        </p:txBody>
      </p:sp>
      <p:sp>
        <p:nvSpPr>
          <p:cNvPr id="20" name="Text 18"/>
          <p:cNvSpPr/>
          <p:nvPr/>
        </p:nvSpPr>
        <p:spPr>
          <a:xfrm>
            <a:off x="1115568" y="2624328"/>
            <a:ext cx="7223760"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  Le Cycle de Vie d'un Changement</a:t>
            </a:r>
            <a:endParaRPr lang="en-US" sz="1500" dirty="0"/>
          </a:p>
        </p:txBody>
      </p:sp>
      <p:sp>
        <p:nvSpPr>
          <p:cNvPr id="21" name="Text 19"/>
          <p:cNvSpPr/>
          <p:nvPr/>
        </p:nvSpPr>
        <p:spPr>
          <a:xfrm>
            <a:off x="1115568" y="2907792"/>
            <a:ext cx="7223760" cy="237744"/>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Du fichier modifié au dépôt distant</a:t>
            </a:r>
            <a:endParaRPr lang="en-US" sz="1100" dirty="0"/>
          </a:p>
        </p:txBody>
      </p:sp>
      <p:sp>
        <p:nvSpPr>
          <p:cNvPr id="22" name="Shape 20"/>
          <p:cNvSpPr/>
          <p:nvPr/>
        </p:nvSpPr>
        <p:spPr>
          <a:xfrm>
            <a:off x="365760" y="3337560"/>
            <a:ext cx="8412480" cy="658368"/>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3" name="Shape 21"/>
          <p:cNvSpPr/>
          <p:nvPr/>
        </p:nvSpPr>
        <p:spPr>
          <a:xfrm>
            <a:off x="365760" y="3337560"/>
            <a:ext cx="73152" cy="658368"/>
          </a:xfrm>
          <a:prstGeom prst="rect">
            <a:avLst/>
          </a:prstGeom>
          <a:solidFill>
            <a:srgbClr val="BC8CFF"/>
          </a:solidFill>
          <a:ln w="12700">
            <a:solidFill>
              <a:srgbClr val="BC8CFF"/>
            </a:solidFill>
            <a:prstDash val="solid"/>
          </a:ln>
        </p:spPr>
      </p:sp>
      <p:sp>
        <p:nvSpPr>
          <p:cNvPr id="24" name="Shape 22"/>
          <p:cNvSpPr/>
          <p:nvPr/>
        </p:nvSpPr>
        <p:spPr>
          <a:xfrm>
            <a:off x="548640" y="3447288"/>
            <a:ext cx="475488" cy="438912"/>
          </a:xfrm>
          <a:prstGeom prst="rect">
            <a:avLst/>
          </a:prstGeom>
          <a:solidFill>
            <a:srgbClr val="BC8CFF"/>
          </a:solidFill>
          <a:ln w="12700">
            <a:solidFill>
              <a:srgbClr val="BC8CFF"/>
            </a:solidFill>
            <a:prstDash val="solid"/>
          </a:ln>
        </p:spPr>
      </p:sp>
      <p:sp>
        <p:nvSpPr>
          <p:cNvPr id="25" name="Text 23"/>
          <p:cNvSpPr/>
          <p:nvPr/>
        </p:nvSpPr>
        <p:spPr>
          <a:xfrm>
            <a:off x="548640" y="3447288"/>
            <a:ext cx="475488"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04</a:t>
            </a:r>
            <a:endParaRPr lang="en-US" sz="1500" dirty="0"/>
          </a:p>
        </p:txBody>
      </p:sp>
      <p:sp>
        <p:nvSpPr>
          <p:cNvPr id="26" name="Text 24"/>
          <p:cNvSpPr/>
          <p:nvPr/>
        </p:nvSpPr>
        <p:spPr>
          <a:xfrm>
            <a:off x="1115568" y="3401568"/>
            <a:ext cx="7223760"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  GitHub : La Plateforme de Collaboration</a:t>
            </a:r>
            <a:endParaRPr lang="en-US" sz="1500" dirty="0"/>
          </a:p>
        </p:txBody>
      </p:sp>
      <p:sp>
        <p:nvSpPr>
          <p:cNvPr id="27" name="Text 25"/>
          <p:cNvSpPr/>
          <p:nvPr/>
        </p:nvSpPr>
        <p:spPr>
          <a:xfrm>
            <a:off x="1115568" y="3685032"/>
            <a:ext cx="7223760" cy="237744"/>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Découverte de l'interface et des fonctionnalités</a:t>
            </a:r>
            <a:endParaRPr lang="en-US" sz="1100" dirty="0"/>
          </a:p>
        </p:txBody>
      </p:sp>
      <p:sp>
        <p:nvSpPr>
          <p:cNvPr id="28" name="Shape 26"/>
          <p:cNvSpPr/>
          <p:nvPr/>
        </p:nvSpPr>
        <p:spPr>
          <a:xfrm>
            <a:off x="365760" y="4114800"/>
            <a:ext cx="8412480" cy="658368"/>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9" name="Shape 27"/>
          <p:cNvSpPr/>
          <p:nvPr/>
        </p:nvSpPr>
        <p:spPr>
          <a:xfrm>
            <a:off x="365760" y="4114800"/>
            <a:ext cx="73152" cy="658368"/>
          </a:xfrm>
          <a:prstGeom prst="rect">
            <a:avLst/>
          </a:prstGeom>
          <a:solidFill>
            <a:srgbClr val="E3B341"/>
          </a:solidFill>
          <a:ln w="12700">
            <a:solidFill>
              <a:srgbClr val="E3B341"/>
            </a:solidFill>
            <a:prstDash val="solid"/>
          </a:ln>
        </p:spPr>
      </p:sp>
      <p:sp>
        <p:nvSpPr>
          <p:cNvPr id="30" name="Shape 28"/>
          <p:cNvSpPr/>
          <p:nvPr/>
        </p:nvSpPr>
        <p:spPr>
          <a:xfrm>
            <a:off x="548640" y="4224528"/>
            <a:ext cx="475488" cy="438912"/>
          </a:xfrm>
          <a:prstGeom prst="rect">
            <a:avLst/>
          </a:prstGeom>
          <a:solidFill>
            <a:srgbClr val="E3B341"/>
          </a:solidFill>
          <a:ln w="12700">
            <a:solidFill>
              <a:srgbClr val="E3B341"/>
            </a:solidFill>
            <a:prstDash val="solid"/>
          </a:ln>
        </p:spPr>
      </p:sp>
      <p:sp>
        <p:nvSpPr>
          <p:cNvPr id="31" name="Text 29"/>
          <p:cNvSpPr/>
          <p:nvPr/>
        </p:nvSpPr>
        <p:spPr>
          <a:xfrm>
            <a:off x="548640" y="4224528"/>
            <a:ext cx="475488"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05</a:t>
            </a:r>
            <a:endParaRPr lang="en-US" sz="1500" dirty="0"/>
          </a:p>
        </p:txBody>
      </p:sp>
      <p:sp>
        <p:nvSpPr>
          <p:cNvPr id="32" name="Text 30"/>
          <p:cNvSpPr/>
          <p:nvPr/>
        </p:nvSpPr>
        <p:spPr>
          <a:xfrm>
            <a:off x="1115568" y="4178808"/>
            <a:ext cx="7223760" cy="292608"/>
          </a:xfrm>
          <a:prstGeom prst="rect">
            <a:avLst/>
          </a:prstGeom>
          <a:noFill/>
          <a:ln/>
        </p:spPr>
        <p:txBody>
          <a:bodyPr wrap="square" lIns="0" tIns="0" rIns="0" bIns="0"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  Dépôts, Branches et Pull Requests</a:t>
            </a:r>
            <a:endParaRPr lang="en-US" sz="1500" dirty="0"/>
          </a:p>
        </p:txBody>
      </p:sp>
      <p:sp>
        <p:nvSpPr>
          <p:cNvPr id="33" name="Text 31"/>
          <p:cNvSpPr/>
          <p:nvPr/>
        </p:nvSpPr>
        <p:spPr>
          <a:xfrm>
            <a:off x="1115568" y="4462272"/>
            <a:ext cx="7223760" cy="237744"/>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Les fondamentaux de la collaboration sur GitHub</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5133"/>
          </a:solidFill>
          <a:ln w="12700">
            <a:solidFill>
              <a:srgbClr val="F05133"/>
            </a:solidFill>
            <a:prstDash val="solid"/>
          </a:ln>
        </p:spPr>
      </p:sp>
      <p:sp>
        <p:nvSpPr>
          <p:cNvPr id="3" name="Text 1"/>
          <p:cNvSpPr/>
          <p:nvPr/>
        </p:nvSpPr>
        <p:spPr>
          <a:xfrm>
            <a:off x="365760" y="137160"/>
            <a:ext cx="8412480" cy="594360"/>
          </a:xfrm>
          <a:prstGeom prst="rect">
            <a:avLst/>
          </a:prstGeom>
          <a:noFill/>
          <a:ln/>
        </p:spPr>
        <p:txBody>
          <a:bodyPr wrap="square" lIns="0" tIns="0" rIns="0" bIns="0"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 Qu'est-ce que Git ?</a:t>
            </a:r>
            <a:endParaRPr lang="en-US" sz="3000" dirty="0"/>
          </a:p>
        </p:txBody>
      </p:sp>
      <p:sp>
        <p:nvSpPr>
          <p:cNvPr id="4" name="Shape 2"/>
          <p:cNvSpPr/>
          <p:nvPr/>
        </p:nvSpPr>
        <p:spPr>
          <a:xfrm>
            <a:off x="365760" y="822960"/>
            <a:ext cx="8412480" cy="960120"/>
          </a:xfrm>
          <a:prstGeom prst="rect">
            <a:avLst/>
          </a:prstGeom>
          <a:solidFill>
            <a:srgbClr val="161B22"/>
          </a:solidFill>
          <a:ln w="12700">
            <a:solidFill>
              <a:srgbClr val="F05133"/>
            </a:solidFill>
            <a:prstDash val="solid"/>
          </a:ln>
          <a:effectLst>
            <a:outerShdw blurRad="101600" dist="38100" dir="8100000" algn="bl" rotWithShape="0">
              <a:srgbClr val="000000">
                <a:alpha val="30000"/>
              </a:srgbClr>
            </a:outerShdw>
          </a:effectLst>
        </p:spPr>
      </p:sp>
      <p:sp>
        <p:nvSpPr>
          <p:cNvPr id="5" name="Shape 3"/>
          <p:cNvSpPr/>
          <p:nvPr/>
        </p:nvSpPr>
        <p:spPr>
          <a:xfrm>
            <a:off x="365760" y="822960"/>
            <a:ext cx="73152" cy="960120"/>
          </a:xfrm>
          <a:prstGeom prst="rect">
            <a:avLst/>
          </a:prstGeom>
          <a:solidFill>
            <a:srgbClr val="F05133"/>
          </a:solidFill>
          <a:ln w="12700">
            <a:solidFill>
              <a:srgbClr val="F05133"/>
            </a:solidFill>
            <a:prstDash val="solid"/>
          </a:ln>
        </p:spPr>
      </p:sp>
      <p:sp>
        <p:nvSpPr>
          <p:cNvPr id="6" name="Text 4"/>
          <p:cNvSpPr/>
          <p:nvPr/>
        </p:nvSpPr>
        <p:spPr>
          <a:xfrm>
            <a:off x="548640" y="841248"/>
            <a:ext cx="8046720" cy="274320"/>
          </a:xfrm>
          <a:prstGeom prst="rect">
            <a:avLst/>
          </a:prstGeom>
          <a:noFill/>
          <a:ln/>
        </p:spPr>
        <p:txBody>
          <a:bodyPr wrap="square" lIns="0" tIns="0" rIns="0" bIns="0" rtlCol="0" anchor="ctr"/>
          <a:lstStyle/>
          <a:p>
            <a:pPr marL="0" indent="0">
              <a:buNone/>
            </a:pPr>
            <a:r>
              <a:rPr lang="en-US" sz="1300" b="1" dirty="0">
                <a:solidFill>
                  <a:srgbClr val="F05133"/>
                </a:solidFill>
                <a:latin typeface="Calibri" pitchFamily="34" charset="0"/>
                <a:ea typeface="Calibri" pitchFamily="34" charset="-122"/>
                <a:cs typeface="Calibri" pitchFamily="34" charset="-120"/>
              </a:rPr>
              <a:t>💡 Définition</a:t>
            </a:r>
            <a:endParaRPr lang="en-US" sz="1300" dirty="0"/>
          </a:p>
        </p:txBody>
      </p:sp>
      <p:sp>
        <p:nvSpPr>
          <p:cNvPr id="7" name="Text 5"/>
          <p:cNvSpPr/>
          <p:nvPr/>
        </p:nvSpPr>
        <p:spPr>
          <a:xfrm>
            <a:off x="548640" y="1115568"/>
            <a:ext cx="8046720" cy="594360"/>
          </a:xfrm>
          <a:prstGeom prst="rect">
            <a:avLst/>
          </a:prstGeom>
          <a:noFill/>
          <a:ln/>
        </p:spPr>
        <p:txBody>
          <a:bodyPr wrap="square" lIns="0" tIns="0" rIns="0" bIns="0" rtlCol="0" anchor="ctr"/>
          <a:lstStyle/>
          <a:p>
            <a:pPr marL="0" indent="0">
              <a:buNone/>
            </a:pPr>
            <a:r>
              <a:rPr lang="en-US" sz="1250" dirty="0">
                <a:solidFill>
                  <a:srgbClr val="E6EDF3"/>
                </a:solidFill>
                <a:latin typeface="Calibri" pitchFamily="34" charset="0"/>
                <a:ea typeface="Calibri" pitchFamily="34" charset="-122"/>
                <a:cs typeface="Calibri" pitchFamily="34" charset="-120"/>
              </a:rPr>
              <a:t>Git est un système de contrôle de version distribué (VCS) créé par Linus Torvalds en 2005. Il permet de suivre l'historique de tes fichiers, de collaborer avec d'autres développeurs et de revenir en arrière à n'importe quel moment ! 🕒</a:t>
            </a:r>
            <a:endParaRPr lang="en-US" sz="1250" dirty="0"/>
          </a:p>
        </p:txBody>
      </p:sp>
      <p:sp>
        <p:nvSpPr>
          <p:cNvPr id="8" name="Shape 6"/>
          <p:cNvSpPr/>
          <p:nvPr/>
        </p:nvSpPr>
        <p:spPr>
          <a:xfrm>
            <a:off x="365760" y="1920240"/>
            <a:ext cx="2651760" cy="18288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9" name="Shape 7"/>
          <p:cNvSpPr/>
          <p:nvPr/>
        </p:nvSpPr>
        <p:spPr>
          <a:xfrm>
            <a:off x="365760" y="1920240"/>
            <a:ext cx="2651760" cy="64008"/>
          </a:xfrm>
          <a:prstGeom prst="rect">
            <a:avLst/>
          </a:prstGeom>
          <a:solidFill>
            <a:srgbClr val="F05133"/>
          </a:solidFill>
          <a:ln w="12700">
            <a:solidFill>
              <a:srgbClr val="F05133"/>
            </a:solidFill>
            <a:prstDash val="solid"/>
          </a:ln>
        </p:spPr>
      </p:sp>
      <p:sp>
        <p:nvSpPr>
          <p:cNvPr id="10" name="Text 8"/>
          <p:cNvSpPr/>
          <p:nvPr/>
        </p:nvSpPr>
        <p:spPr>
          <a:xfrm>
            <a:off x="365760" y="2057400"/>
            <a:ext cx="265176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365760" y="2606040"/>
            <a:ext cx="2651760" cy="329184"/>
          </a:xfrm>
          <a:prstGeom prst="rect">
            <a:avLst/>
          </a:prstGeom>
          <a:noFill/>
          <a:ln/>
        </p:spPr>
        <p:txBody>
          <a:bodyPr wrap="square" lIns="0" tIns="0" rIns="0" bIns="0" rtlCol="0" anchor="ctr"/>
          <a:lstStyle/>
          <a:p>
            <a:pPr marL="0" indent="0" algn="ctr">
              <a:buNone/>
            </a:pPr>
            <a:r>
              <a:rPr lang="en-US" sz="1400" b="1" dirty="0">
                <a:solidFill>
                  <a:srgbClr val="F05133"/>
                </a:solidFill>
                <a:latin typeface="Arial Black" pitchFamily="34" charset="0"/>
                <a:ea typeface="Arial Black" pitchFamily="34" charset="-122"/>
                <a:cs typeface="Arial Black" pitchFamily="34" charset="-120"/>
              </a:rPr>
              <a:t>Snapshots</a:t>
            </a:r>
            <a:endParaRPr lang="en-US" sz="1400" dirty="0"/>
          </a:p>
        </p:txBody>
      </p:sp>
      <p:sp>
        <p:nvSpPr>
          <p:cNvPr id="12" name="Text 10"/>
          <p:cNvSpPr/>
          <p:nvPr/>
        </p:nvSpPr>
        <p:spPr>
          <a:xfrm>
            <a:off x="457200" y="2926080"/>
            <a:ext cx="2468880" cy="73152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Git enregistre des « instantanés » de ton projet à chaque commit</a:t>
            </a:r>
            <a:endParaRPr lang="en-US" sz="1100" dirty="0"/>
          </a:p>
        </p:txBody>
      </p:sp>
      <p:sp>
        <p:nvSpPr>
          <p:cNvPr id="13" name="Shape 11"/>
          <p:cNvSpPr/>
          <p:nvPr/>
        </p:nvSpPr>
        <p:spPr>
          <a:xfrm>
            <a:off x="3200400" y="1920240"/>
            <a:ext cx="2651760" cy="18288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4" name="Shape 12"/>
          <p:cNvSpPr/>
          <p:nvPr/>
        </p:nvSpPr>
        <p:spPr>
          <a:xfrm>
            <a:off x="3200400" y="1920240"/>
            <a:ext cx="2651760" cy="64008"/>
          </a:xfrm>
          <a:prstGeom prst="rect">
            <a:avLst/>
          </a:prstGeom>
          <a:solidFill>
            <a:srgbClr val="3FB950"/>
          </a:solidFill>
          <a:ln w="12700">
            <a:solidFill>
              <a:srgbClr val="3FB950"/>
            </a:solidFill>
            <a:prstDash val="solid"/>
          </a:ln>
        </p:spPr>
      </p:sp>
      <p:sp>
        <p:nvSpPr>
          <p:cNvPr id="15" name="Text 13"/>
          <p:cNvSpPr/>
          <p:nvPr/>
        </p:nvSpPr>
        <p:spPr>
          <a:xfrm>
            <a:off x="3200400" y="2057400"/>
            <a:ext cx="265176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6" name="Text 14"/>
          <p:cNvSpPr/>
          <p:nvPr/>
        </p:nvSpPr>
        <p:spPr>
          <a:xfrm>
            <a:off x="3200400" y="2606040"/>
            <a:ext cx="2651760" cy="329184"/>
          </a:xfrm>
          <a:prstGeom prst="rect">
            <a:avLst/>
          </a:prstGeom>
          <a:noFill/>
          <a:ln/>
        </p:spPr>
        <p:txBody>
          <a:bodyPr wrap="square" lIns="0" tIns="0" rIns="0" bIns="0" rtlCol="0" anchor="ctr"/>
          <a:lstStyle/>
          <a:p>
            <a:pPr marL="0" indent="0" algn="ctr">
              <a:buNone/>
            </a:pPr>
            <a:r>
              <a:rPr lang="en-US" sz="1400" b="1" dirty="0">
                <a:solidFill>
                  <a:srgbClr val="3FB950"/>
                </a:solidFill>
                <a:latin typeface="Arial Black" pitchFamily="34" charset="0"/>
                <a:ea typeface="Arial Black" pitchFamily="34" charset="-122"/>
                <a:cs typeface="Arial Black" pitchFamily="34" charset="-120"/>
              </a:rPr>
              <a:t>Branches</a:t>
            </a:r>
            <a:endParaRPr lang="en-US" sz="1400" dirty="0"/>
          </a:p>
        </p:txBody>
      </p:sp>
      <p:sp>
        <p:nvSpPr>
          <p:cNvPr id="17" name="Text 15"/>
          <p:cNvSpPr/>
          <p:nvPr/>
        </p:nvSpPr>
        <p:spPr>
          <a:xfrm>
            <a:off x="3291840" y="2926080"/>
            <a:ext cx="2468880" cy="73152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Travaille sur plusieurs fonctionnalités en parallèle sans risque</a:t>
            </a:r>
            <a:endParaRPr lang="en-US" sz="1100" dirty="0"/>
          </a:p>
        </p:txBody>
      </p:sp>
      <p:sp>
        <p:nvSpPr>
          <p:cNvPr id="18" name="Shape 16"/>
          <p:cNvSpPr/>
          <p:nvPr/>
        </p:nvSpPr>
        <p:spPr>
          <a:xfrm>
            <a:off x="6035040" y="1920240"/>
            <a:ext cx="2651760" cy="18288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9" name="Shape 17"/>
          <p:cNvSpPr/>
          <p:nvPr/>
        </p:nvSpPr>
        <p:spPr>
          <a:xfrm>
            <a:off x="6035040" y="1920240"/>
            <a:ext cx="2651760" cy="64008"/>
          </a:xfrm>
          <a:prstGeom prst="rect">
            <a:avLst/>
          </a:prstGeom>
          <a:solidFill>
            <a:srgbClr val="58A6FF"/>
          </a:solidFill>
          <a:ln w="12700">
            <a:solidFill>
              <a:srgbClr val="58A6FF"/>
            </a:solidFill>
            <a:prstDash val="solid"/>
          </a:ln>
        </p:spPr>
      </p:sp>
      <p:sp>
        <p:nvSpPr>
          <p:cNvPr id="20" name="Text 18"/>
          <p:cNvSpPr/>
          <p:nvPr/>
        </p:nvSpPr>
        <p:spPr>
          <a:xfrm>
            <a:off x="6035040" y="2057400"/>
            <a:ext cx="2651760" cy="54864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1" name="Text 19"/>
          <p:cNvSpPr/>
          <p:nvPr/>
        </p:nvSpPr>
        <p:spPr>
          <a:xfrm>
            <a:off x="6035040" y="2606040"/>
            <a:ext cx="2651760" cy="329184"/>
          </a:xfrm>
          <a:prstGeom prst="rect">
            <a:avLst/>
          </a:prstGeom>
          <a:noFill/>
          <a:ln/>
        </p:spPr>
        <p:txBody>
          <a:bodyPr wrap="square" lIns="0" tIns="0" rIns="0" bIns="0" rtlCol="0" anchor="ctr"/>
          <a:lstStyle/>
          <a:p>
            <a:pPr marL="0" indent="0" algn="ctr">
              <a:buNone/>
            </a:pPr>
            <a:r>
              <a:rPr lang="en-US" sz="1400" b="1" dirty="0">
                <a:solidFill>
                  <a:srgbClr val="58A6FF"/>
                </a:solidFill>
                <a:latin typeface="Arial Black" pitchFamily="34" charset="0"/>
                <a:ea typeface="Arial Black" pitchFamily="34" charset="-122"/>
                <a:cs typeface="Arial Black" pitchFamily="34" charset="-120"/>
              </a:rPr>
              <a:t>Sécurité</a:t>
            </a:r>
            <a:endParaRPr lang="en-US" sz="1400" dirty="0"/>
          </a:p>
        </p:txBody>
      </p:sp>
      <p:sp>
        <p:nvSpPr>
          <p:cNvPr id="22" name="Text 20"/>
          <p:cNvSpPr/>
          <p:nvPr/>
        </p:nvSpPr>
        <p:spPr>
          <a:xfrm>
            <a:off x="6126480" y="2926080"/>
            <a:ext cx="2468880" cy="73152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Chaque modification est tracée avec un identifiant unique (SHA-1)</a:t>
            </a:r>
            <a:endParaRPr lang="en-US" sz="1100" dirty="0"/>
          </a:p>
        </p:txBody>
      </p:sp>
      <p:sp>
        <p:nvSpPr>
          <p:cNvPr id="23" name="Shape 21"/>
          <p:cNvSpPr/>
          <p:nvPr/>
        </p:nvSpPr>
        <p:spPr>
          <a:xfrm>
            <a:off x="0" y="4892040"/>
            <a:ext cx="9144000" cy="251460"/>
          </a:xfrm>
          <a:prstGeom prst="rect">
            <a:avLst/>
          </a:prstGeom>
          <a:solidFill>
            <a:srgbClr val="161B22"/>
          </a:solidFill>
          <a:ln w="12700">
            <a:solidFill>
              <a:srgbClr val="161B22"/>
            </a:solidFill>
            <a:prstDash val="solid"/>
          </a:ln>
        </p:spPr>
      </p:sp>
      <p:sp>
        <p:nvSpPr>
          <p:cNvPr id="24" name="Text 22"/>
          <p:cNvSpPr/>
          <p:nvPr/>
        </p:nvSpPr>
        <p:spPr>
          <a:xfrm>
            <a:off x="365760" y="4919472"/>
            <a:ext cx="8412480" cy="201168"/>
          </a:xfrm>
          <a:prstGeom prst="rect">
            <a:avLst/>
          </a:prstGeom>
          <a:noFill/>
          <a:ln/>
        </p:spPr>
        <p:txBody>
          <a:bodyPr wrap="square" lIns="0" tIns="0" rIns="0" bIns="0" rtlCol="0" anchor="ctr"/>
          <a:lstStyle/>
          <a:p>
            <a:pPr marL="0" indent="0" algn="ctr">
              <a:buNone/>
            </a:pPr>
            <a:r>
              <a:rPr lang="en-US" sz="1100" b="1" dirty="0">
                <a:solidFill>
                  <a:srgbClr val="E3B341"/>
                </a:solidFill>
                <a:latin typeface="Calibri" pitchFamily="34" charset="0"/>
                <a:ea typeface="Calibri" pitchFamily="34" charset="-122"/>
                <a:cs typeface="Calibri" pitchFamily="34" charset="-120"/>
              </a:rPr>
              <a:t>🎯  Fait amusant : Plus de 90 % des développeurs dans le monde utilisent Git quotidiennement !</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8A6FF"/>
          </a:solidFill>
          <a:ln w="12700">
            <a:solidFill>
              <a:srgbClr val="58A6FF"/>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 Les Commandes Git Essentielles</a:t>
            </a:r>
            <a:endParaRPr lang="en-US" sz="2800" dirty="0"/>
          </a:p>
        </p:txBody>
      </p:sp>
      <p:sp>
        <p:nvSpPr>
          <p:cNvPr id="4" name="Text 2"/>
          <p:cNvSpPr/>
          <p:nvPr/>
        </p:nvSpPr>
        <p:spPr>
          <a:xfrm>
            <a:off x="365760" y="658368"/>
            <a:ext cx="841248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Les commandes à connaître absolument 💪</a:t>
            </a:r>
            <a:endParaRPr lang="en-US" sz="1300" dirty="0"/>
          </a:p>
        </p:txBody>
      </p:sp>
      <p:sp>
        <p:nvSpPr>
          <p:cNvPr id="5" name="Shape 3"/>
          <p:cNvSpPr/>
          <p:nvPr/>
        </p:nvSpPr>
        <p:spPr>
          <a:xfrm>
            <a:off x="36576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6" name="Shape 4"/>
          <p:cNvSpPr/>
          <p:nvPr/>
        </p:nvSpPr>
        <p:spPr>
          <a:xfrm>
            <a:off x="365760" y="1024128"/>
            <a:ext cx="64008" cy="1143000"/>
          </a:xfrm>
          <a:prstGeom prst="rect">
            <a:avLst/>
          </a:prstGeom>
          <a:solidFill>
            <a:srgbClr val="F05133"/>
          </a:solidFill>
          <a:ln w="12700">
            <a:solidFill>
              <a:srgbClr val="F05133"/>
            </a:solidFill>
            <a:prstDash val="solid"/>
          </a:ln>
        </p:spPr>
      </p:sp>
      <p:sp>
        <p:nvSpPr>
          <p:cNvPr id="7" name="Text 5"/>
          <p:cNvSpPr/>
          <p:nvPr/>
        </p:nvSpPr>
        <p:spPr>
          <a:xfrm>
            <a:off x="502920" y="1115568"/>
            <a:ext cx="4023360" cy="347472"/>
          </a:xfrm>
          <a:prstGeom prst="rect">
            <a:avLst/>
          </a:prstGeom>
          <a:noFill/>
          <a:ln/>
        </p:spPr>
        <p:txBody>
          <a:bodyPr wrap="square" lIns="0" tIns="0" rIns="0" bIns="0" rtlCol="0" anchor="ctr"/>
          <a:lstStyle/>
          <a:p>
            <a:pPr marL="0" indent="0">
              <a:buNone/>
            </a:pPr>
            <a:r>
              <a:rPr lang="en-US" sz="1350" b="1" dirty="0">
                <a:solidFill>
                  <a:srgbClr val="F05133"/>
                </a:solidFill>
                <a:latin typeface="Consolas" pitchFamily="34" charset="0"/>
                <a:ea typeface="Consolas" pitchFamily="34" charset="-122"/>
                <a:cs typeface="Consolas" pitchFamily="34" charset="-120"/>
              </a:rPr>
              <a:t>🆕  git init</a:t>
            </a:r>
            <a:endParaRPr lang="en-US" sz="1350" dirty="0"/>
          </a:p>
        </p:txBody>
      </p:sp>
      <p:sp>
        <p:nvSpPr>
          <p:cNvPr id="8" name="Text 6"/>
          <p:cNvSpPr/>
          <p:nvPr/>
        </p:nvSpPr>
        <p:spPr>
          <a:xfrm>
            <a:off x="502920" y="1463040"/>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Initialise un nouveau dépôt Git dans le dossier courant</a:t>
            </a:r>
            <a:endParaRPr lang="en-US" sz="1150" dirty="0"/>
          </a:p>
        </p:txBody>
      </p:sp>
      <p:sp>
        <p:nvSpPr>
          <p:cNvPr id="9" name="Shape 7"/>
          <p:cNvSpPr/>
          <p:nvPr/>
        </p:nvSpPr>
        <p:spPr>
          <a:xfrm>
            <a:off x="475488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0" name="Shape 8"/>
          <p:cNvSpPr/>
          <p:nvPr/>
        </p:nvSpPr>
        <p:spPr>
          <a:xfrm>
            <a:off x="4754880" y="1024128"/>
            <a:ext cx="64008" cy="1143000"/>
          </a:xfrm>
          <a:prstGeom prst="rect">
            <a:avLst/>
          </a:prstGeom>
          <a:solidFill>
            <a:srgbClr val="58A6FF"/>
          </a:solidFill>
          <a:ln w="12700">
            <a:solidFill>
              <a:srgbClr val="58A6FF"/>
            </a:solidFill>
            <a:prstDash val="solid"/>
          </a:ln>
        </p:spPr>
      </p:sp>
      <p:sp>
        <p:nvSpPr>
          <p:cNvPr id="13" name="Shape 11"/>
          <p:cNvSpPr/>
          <p:nvPr/>
        </p:nvSpPr>
        <p:spPr>
          <a:xfrm>
            <a:off x="36576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4" name="Shape 12"/>
          <p:cNvSpPr/>
          <p:nvPr/>
        </p:nvSpPr>
        <p:spPr>
          <a:xfrm>
            <a:off x="365760" y="2286000"/>
            <a:ext cx="64008" cy="1143000"/>
          </a:xfrm>
          <a:prstGeom prst="rect">
            <a:avLst/>
          </a:prstGeom>
          <a:solidFill>
            <a:srgbClr val="3FB950"/>
          </a:solidFill>
          <a:ln w="12700">
            <a:solidFill>
              <a:srgbClr val="3FB950"/>
            </a:solidFill>
            <a:prstDash val="solid"/>
          </a:ln>
        </p:spPr>
      </p:sp>
      <p:sp>
        <p:nvSpPr>
          <p:cNvPr id="15" name="Text 13"/>
          <p:cNvSpPr/>
          <p:nvPr/>
        </p:nvSpPr>
        <p:spPr>
          <a:xfrm>
            <a:off x="4892040" y="1109589"/>
            <a:ext cx="4023360" cy="347472"/>
          </a:xfrm>
          <a:prstGeom prst="rect">
            <a:avLst/>
          </a:prstGeom>
          <a:noFill/>
          <a:ln/>
        </p:spPr>
        <p:txBody>
          <a:bodyPr wrap="square" lIns="0" tIns="0" rIns="0" bIns="0" rtlCol="0" anchor="ctr"/>
          <a:lstStyle/>
          <a:p>
            <a:pPr marL="0" indent="0">
              <a:buNone/>
            </a:pPr>
            <a:r>
              <a:rPr lang="en-US" sz="1350" b="1" dirty="0">
                <a:solidFill>
                  <a:srgbClr val="3FB950"/>
                </a:solidFill>
                <a:latin typeface="Consolas" pitchFamily="34" charset="0"/>
                <a:ea typeface="Consolas" pitchFamily="34" charset="-122"/>
                <a:cs typeface="Consolas" pitchFamily="34" charset="-120"/>
              </a:rPr>
              <a:t>➕  git add &lt;fichier&gt;</a:t>
            </a:r>
            <a:endParaRPr lang="en-US" sz="1350" dirty="0"/>
          </a:p>
        </p:txBody>
      </p:sp>
      <p:sp>
        <p:nvSpPr>
          <p:cNvPr id="16" name="Text 14"/>
          <p:cNvSpPr/>
          <p:nvPr/>
        </p:nvSpPr>
        <p:spPr>
          <a:xfrm>
            <a:off x="4869180" y="1463040"/>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Ajoute des fichiers à la zone de staging (pré-commit)</a:t>
            </a:r>
            <a:endParaRPr lang="en-US" sz="1150" dirty="0"/>
          </a:p>
        </p:txBody>
      </p:sp>
      <p:sp>
        <p:nvSpPr>
          <p:cNvPr id="17" name="Shape 15"/>
          <p:cNvSpPr/>
          <p:nvPr/>
        </p:nvSpPr>
        <p:spPr>
          <a:xfrm>
            <a:off x="475488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8" name="Shape 16"/>
          <p:cNvSpPr/>
          <p:nvPr/>
        </p:nvSpPr>
        <p:spPr>
          <a:xfrm>
            <a:off x="4754880" y="2286000"/>
            <a:ext cx="64008" cy="1143000"/>
          </a:xfrm>
          <a:prstGeom prst="rect">
            <a:avLst/>
          </a:prstGeom>
          <a:solidFill>
            <a:srgbClr val="BC8CFF"/>
          </a:solidFill>
          <a:ln w="12700">
            <a:solidFill>
              <a:srgbClr val="BC8CFF"/>
            </a:solidFill>
            <a:prstDash val="solid"/>
          </a:ln>
        </p:spPr>
      </p:sp>
      <p:sp>
        <p:nvSpPr>
          <p:cNvPr id="21" name="Shape 19"/>
          <p:cNvSpPr/>
          <p:nvPr/>
        </p:nvSpPr>
        <p:spPr>
          <a:xfrm>
            <a:off x="36576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2" name="Shape 20"/>
          <p:cNvSpPr/>
          <p:nvPr/>
        </p:nvSpPr>
        <p:spPr>
          <a:xfrm>
            <a:off x="365760" y="3547872"/>
            <a:ext cx="64008" cy="1143000"/>
          </a:xfrm>
          <a:prstGeom prst="rect">
            <a:avLst/>
          </a:prstGeom>
          <a:solidFill>
            <a:srgbClr val="E3B341"/>
          </a:solidFill>
          <a:ln w="12700">
            <a:solidFill>
              <a:srgbClr val="E3B341"/>
            </a:solidFill>
            <a:prstDash val="solid"/>
          </a:ln>
        </p:spPr>
      </p:sp>
      <p:sp>
        <p:nvSpPr>
          <p:cNvPr id="23" name="Text 21"/>
          <p:cNvSpPr/>
          <p:nvPr/>
        </p:nvSpPr>
        <p:spPr>
          <a:xfrm>
            <a:off x="480060" y="2377440"/>
            <a:ext cx="4023360" cy="347472"/>
          </a:xfrm>
          <a:prstGeom prst="rect">
            <a:avLst/>
          </a:prstGeom>
          <a:noFill/>
          <a:ln/>
        </p:spPr>
        <p:txBody>
          <a:bodyPr wrap="square" lIns="0" tIns="0" rIns="0" bIns="0" rtlCol="0" anchor="ctr"/>
          <a:lstStyle/>
          <a:p>
            <a:pPr marL="0" indent="0">
              <a:buNone/>
            </a:pPr>
            <a:r>
              <a:rPr lang="en-US" sz="1350" b="1" dirty="0">
                <a:solidFill>
                  <a:srgbClr val="E3B341"/>
                </a:solidFill>
                <a:latin typeface="Consolas" pitchFamily="34" charset="0"/>
                <a:ea typeface="Consolas" pitchFamily="34" charset="-122"/>
                <a:cs typeface="Consolas" pitchFamily="34" charset="-120"/>
              </a:rPr>
              <a:t>📊  git status</a:t>
            </a:r>
            <a:endParaRPr lang="en-US" sz="1350" dirty="0"/>
          </a:p>
        </p:txBody>
      </p:sp>
      <p:sp>
        <p:nvSpPr>
          <p:cNvPr id="24" name="Text 22"/>
          <p:cNvSpPr/>
          <p:nvPr/>
        </p:nvSpPr>
        <p:spPr>
          <a:xfrm>
            <a:off x="548640" y="2834640"/>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Affiche l'état actuel du dépôt (modifié, stagé, etc.)</a:t>
            </a:r>
            <a:endParaRPr lang="en-US" sz="1150" dirty="0"/>
          </a:p>
        </p:txBody>
      </p:sp>
      <p:sp>
        <p:nvSpPr>
          <p:cNvPr id="25" name="Shape 23"/>
          <p:cNvSpPr/>
          <p:nvPr/>
        </p:nvSpPr>
        <p:spPr>
          <a:xfrm>
            <a:off x="475488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6" name="Shape 24"/>
          <p:cNvSpPr/>
          <p:nvPr/>
        </p:nvSpPr>
        <p:spPr>
          <a:xfrm>
            <a:off x="4754880" y="3547872"/>
            <a:ext cx="64008" cy="1143000"/>
          </a:xfrm>
          <a:prstGeom prst="rect">
            <a:avLst/>
          </a:prstGeom>
          <a:solidFill>
            <a:srgbClr val="F05133"/>
          </a:solidFill>
          <a:ln w="12700">
            <a:solidFill>
              <a:srgbClr val="F05133"/>
            </a:solidFill>
            <a:prstDash val="solid"/>
          </a:ln>
        </p:spPr>
      </p:sp>
      <p:sp>
        <p:nvSpPr>
          <p:cNvPr id="29" name="Text 17"/>
          <p:cNvSpPr/>
          <p:nvPr/>
        </p:nvSpPr>
        <p:spPr>
          <a:xfrm>
            <a:off x="502920" y="3639312"/>
            <a:ext cx="4023360" cy="347472"/>
          </a:xfrm>
          <a:prstGeom prst="rect">
            <a:avLst/>
          </a:prstGeom>
          <a:noFill/>
          <a:ln/>
        </p:spPr>
        <p:txBody>
          <a:bodyPr wrap="square" lIns="0" tIns="0" rIns="0" bIns="0" rtlCol="0" anchor="ctr"/>
          <a:lstStyle/>
          <a:p>
            <a:pPr marL="0" indent="0">
              <a:buNone/>
            </a:pPr>
            <a:r>
              <a:rPr lang="en-US" sz="1350" b="1" dirty="0">
                <a:solidFill>
                  <a:srgbClr val="BC8CFF"/>
                </a:solidFill>
                <a:latin typeface="Consolas" pitchFamily="34" charset="0"/>
                <a:ea typeface="Consolas" pitchFamily="34" charset="-122"/>
                <a:cs typeface="Consolas" pitchFamily="34" charset="-120"/>
              </a:rPr>
              <a:t>💾  git commit -m "msg"</a:t>
            </a:r>
            <a:endParaRPr lang="en-US" sz="1350" dirty="0"/>
          </a:p>
        </p:txBody>
      </p:sp>
      <p:sp>
        <p:nvSpPr>
          <p:cNvPr id="30" name="Text 18"/>
          <p:cNvSpPr/>
          <p:nvPr/>
        </p:nvSpPr>
        <p:spPr>
          <a:xfrm>
            <a:off x="480060" y="4096512"/>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Enregistre les changements avec un message descriptif</a:t>
            </a:r>
            <a:endParaRPr lang="en-US" sz="1150" dirty="0"/>
          </a:p>
        </p:txBody>
      </p:sp>
      <p:sp>
        <p:nvSpPr>
          <p:cNvPr id="31" name="Text 13"/>
          <p:cNvSpPr/>
          <p:nvPr/>
        </p:nvSpPr>
        <p:spPr>
          <a:xfrm>
            <a:off x="4892040" y="2396784"/>
            <a:ext cx="4023360" cy="347472"/>
          </a:xfrm>
          <a:prstGeom prst="rect">
            <a:avLst/>
          </a:prstGeom>
          <a:noFill/>
          <a:ln/>
        </p:spPr>
        <p:txBody>
          <a:bodyPr wrap="square" lIns="0" tIns="0" rIns="0" bIns="0" rtlCol="0" anchor="ctr"/>
          <a:lstStyle/>
          <a:p>
            <a:pPr marL="0" indent="0">
              <a:buNone/>
            </a:pPr>
            <a:r>
              <a:rPr lang="en-US" sz="1350" b="1" dirty="0">
                <a:solidFill>
                  <a:srgbClr val="3FB950"/>
                </a:solidFill>
                <a:latin typeface="Consolas" pitchFamily="34" charset="0"/>
                <a:ea typeface="Consolas" pitchFamily="34" charset="-122"/>
                <a:cs typeface="Consolas" pitchFamily="34" charset="-120"/>
              </a:rPr>
              <a:t>🌿  git branch</a:t>
            </a:r>
            <a:endParaRPr lang="en-US" sz="1350" dirty="0"/>
          </a:p>
        </p:txBody>
      </p:sp>
      <p:sp>
        <p:nvSpPr>
          <p:cNvPr id="32" name="Text 14"/>
          <p:cNvSpPr/>
          <p:nvPr/>
        </p:nvSpPr>
        <p:spPr>
          <a:xfrm>
            <a:off x="4983480" y="2745312"/>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Liste, crée ou supprime des branches dans le dépôt</a:t>
            </a:r>
            <a:endParaRPr lang="en-US" sz="1150" dirty="0"/>
          </a:p>
        </p:txBody>
      </p:sp>
      <p:sp>
        <p:nvSpPr>
          <p:cNvPr id="33" name="Text 17"/>
          <p:cNvSpPr/>
          <p:nvPr/>
        </p:nvSpPr>
        <p:spPr>
          <a:xfrm>
            <a:off x="4892040" y="3554906"/>
            <a:ext cx="4023360" cy="347472"/>
          </a:xfrm>
          <a:prstGeom prst="rect">
            <a:avLst/>
          </a:prstGeom>
          <a:noFill/>
          <a:ln/>
        </p:spPr>
        <p:txBody>
          <a:bodyPr wrap="square" lIns="0" tIns="0" rIns="0" bIns="0" rtlCol="0" anchor="ctr"/>
          <a:lstStyle/>
          <a:p>
            <a:pPr marL="0" indent="0">
              <a:buNone/>
            </a:pPr>
            <a:r>
              <a:rPr lang="en-US" sz="1350" b="1" dirty="0">
                <a:solidFill>
                  <a:srgbClr val="BC8CFF"/>
                </a:solidFill>
                <a:latin typeface="Consolas" pitchFamily="34" charset="0"/>
                <a:ea typeface="Consolas" pitchFamily="34" charset="-122"/>
                <a:cs typeface="Consolas" pitchFamily="34" charset="-120"/>
              </a:rPr>
              <a:t>🔀  git checkout</a:t>
            </a:r>
            <a:endParaRPr lang="en-US" sz="1350" dirty="0"/>
          </a:p>
        </p:txBody>
      </p:sp>
      <p:sp>
        <p:nvSpPr>
          <p:cNvPr id="34" name="Text 18"/>
          <p:cNvSpPr/>
          <p:nvPr/>
        </p:nvSpPr>
        <p:spPr>
          <a:xfrm>
            <a:off x="4892040" y="4003665"/>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Change de branche ou restaure des fichiers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8A6FF"/>
          </a:solidFill>
          <a:ln w="12700">
            <a:solidFill>
              <a:srgbClr val="58A6FF"/>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2800" b="1" dirty="0">
                <a:solidFill>
                  <a:srgbClr val="FFFFFF"/>
                </a:solidFill>
                <a:latin typeface="Arial Black" pitchFamily="34" charset="0"/>
                <a:ea typeface="Arial Black" pitchFamily="34" charset="-122"/>
                <a:cs typeface="Arial Black" pitchFamily="34" charset="-120"/>
              </a:rPr>
              <a:t>⚡ Les Commandes Git Essentielles</a:t>
            </a:r>
            <a:endParaRPr lang="en-US" sz="2800" dirty="0"/>
          </a:p>
        </p:txBody>
      </p:sp>
      <p:sp>
        <p:nvSpPr>
          <p:cNvPr id="4" name="Text 2"/>
          <p:cNvSpPr/>
          <p:nvPr/>
        </p:nvSpPr>
        <p:spPr>
          <a:xfrm>
            <a:off x="365760" y="658368"/>
            <a:ext cx="841248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Commandes pour travailler avec des dépôts distants 🌍</a:t>
            </a:r>
            <a:endParaRPr lang="en-US" sz="1300" dirty="0"/>
          </a:p>
        </p:txBody>
      </p:sp>
      <p:sp>
        <p:nvSpPr>
          <p:cNvPr id="5" name="Shape 3"/>
          <p:cNvSpPr/>
          <p:nvPr/>
        </p:nvSpPr>
        <p:spPr>
          <a:xfrm>
            <a:off x="36576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6" name="Shape 4"/>
          <p:cNvSpPr/>
          <p:nvPr/>
        </p:nvSpPr>
        <p:spPr>
          <a:xfrm>
            <a:off x="365760" y="1024128"/>
            <a:ext cx="64008" cy="1143000"/>
          </a:xfrm>
          <a:prstGeom prst="rect">
            <a:avLst/>
          </a:prstGeom>
          <a:solidFill>
            <a:srgbClr val="F05133"/>
          </a:solidFill>
          <a:ln w="12700">
            <a:solidFill>
              <a:srgbClr val="F05133"/>
            </a:solidFill>
            <a:prstDash val="solid"/>
          </a:ln>
        </p:spPr>
      </p:sp>
      <p:sp>
        <p:nvSpPr>
          <p:cNvPr id="8" name="Text 6"/>
          <p:cNvSpPr/>
          <p:nvPr/>
        </p:nvSpPr>
        <p:spPr>
          <a:xfrm>
            <a:off x="502920" y="1463040"/>
            <a:ext cx="4023360" cy="594360"/>
          </a:xfrm>
          <a:prstGeom prst="rect">
            <a:avLst/>
          </a:prstGeom>
          <a:noFill/>
          <a:ln/>
        </p:spPr>
        <p:txBody>
          <a:bodyPr wrap="square" lIns="0" tIns="0" rIns="0" bIns="0" rtlCol="0" anchor="ctr"/>
          <a:lstStyle/>
          <a:p>
            <a:pPr marL="0" indent="0">
              <a:buNone/>
            </a:pPr>
            <a:endParaRPr lang="en-US" sz="1150" dirty="0"/>
          </a:p>
        </p:txBody>
      </p:sp>
      <p:sp>
        <p:nvSpPr>
          <p:cNvPr id="9" name="Shape 7"/>
          <p:cNvSpPr/>
          <p:nvPr/>
        </p:nvSpPr>
        <p:spPr>
          <a:xfrm>
            <a:off x="475488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0" name="Shape 8"/>
          <p:cNvSpPr/>
          <p:nvPr/>
        </p:nvSpPr>
        <p:spPr>
          <a:xfrm>
            <a:off x="4754880" y="1024128"/>
            <a:ext cx="64008" cy="1143000"/>
          </a:xfrm>
          <a:prstGeom prst="rect">
            <a:avLst/>
          </a:prstGeom>
          <a:solidFill>
            <a:srgbClr val="58A6FF"/>
          </a:solidFill>
          <a:ln w="12700">
            <a:solidFill>
              <a:srgbClr val="58A6FF"/>
            </a:solidFill>
            <a:prstDash val="solid"/>
          </a:ln>
        </p:spPr>
      </p:sp>
      <p:sp>
        <p:nvSpPr>
          <p:cNvPr id="11" name="Text 9"/>
          <p:cNvSpPr/>
          <p:nvPr/>
        </p:nvSpPr>
        <p:spPr>
          <a:xfrm>
            <a:off x="4892040" y="1115568"/>
            <a:ext cx="4023360" cy="347472"/>
          </a:xfrm>
          <a:prstGeom prst="rect">
            <a:avLst/>
          </a:prstGeom>
          <a:noFill/>
          <a:ln/>
        </p:spPr>
        <p:txBody>
          <a:bodyPr wrap="square" lIns="0" tIns="0" rIns="0" bIns="0" rtlCol="0" anchor="ctr"/>
          <a:lstStyle/>
          <a:p>
            <a:pPr marL="0" indent="0">
              <a:buNone/>
            </a:pPr>
            <a:r>
              <a:rPr lang="en-US" sz="1350" b="1" dirty="0">
                <a:solidFill>
                  <a:srgbClr val="58A6FF"/>
                </a:solidFill>
                <a:latin typeface="Consolas" pitchFamily="34" charset="0"/>
                <a:ea typeface="Consolas" pitchFamily="34" charset="-122"/>
                <a:cs typeface="Consolas" pitchFamily="34" charset="-120"/>
              </a:rPr>
              <a:t>⬇️  git pull</a:t>
            </a:r>
            <a:endParaRPr lang="en-US" sz="1350" dirty="0"/>
          </a:p>
        </p:txBody>
      </p:sp>
      <p:sp>
        <p:nvSpPr>
          <p:cNvPr id="12" name="Text 10"/>
          <p:cNvSpPr/>
          <p:nvPr/>
        </p:nvSpPr>
        <p:spPr>
          <a:xfrm>
            <a:off x="4892040" y="1463040"/>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Récupère et fusionne les changements du dépôt distant</a:t>
            </a:r>
            <a:endParaRPr lang="en-US" sz="1150" dirty="0"/>
          </a:p>
        </p:txBody>
      </p:sp>
      <p:sp>
        <p:nvSpPr>
          <p:cNvPr id="13" name="Shape 11"/>
          <p:cNvSpPr/>
          <p:nvPr/>
        </p:nvSpPr>
        <p:spPr>
          <a:xfrm>
            <a:off x="36576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4" name="Shape 12"/>
          <p:cNvSpPr/>
          <p:nvPr/>
        </p:nvSpPr>
        <p:spPr>
          <a:xfrm>
            <a:off x="365760" y="2286000"/>
            <a:ext cx="64008" cy="1143000"/>
          </a:xfrm>
          <a:prstGeom prst="rect">
            <a:avLst/>
          </a:prstGeom>
          <a:solidFill>
            <a:srgbClr val="3FB950"/>
          </a:solidFill>
          <a:ln w="12700">
            <a:solidFill>
              <a:srgbClr val="3FB950"/>
            </a:solidFill>
            <a:prstDash val="solid"/>
          </a:ln>
        </p:spPr>
      </p:sp>
      <p:sp>
        <p:nvSpPr>
          <p:cNvPr id="15" name="Text 13"/>
          <p:cNvSpPr/>
          <p:nvPr/>
        </p:nvSpPr>
        <p:spPr>
          <a:xfrm>
            <a:off x="502920" y="2377440"/>
            <a:ext cx="4023360" cy="347472"/>
          </a:xfrm>
          <a:prstGeom prst="rect">
            <a:avLst/>
          </a:prstGeom>
          <a:noFill/>
          <a:ln/>
        </p:spPr>
        <p:txBody>
          <a:bodyPr wrap="square" lIns="0" tIns="0" rIns="0" bIns="0" rtlCol="0" anchor="ctr"/>
          <a:lstStyle/>
          <a:p>
            <a:pPr marL="0" indent="0">
              <a:buNone/>
            </a:pPr>
            <a:endParaRPr lang="en-US" sz="1350" dirty="0"/>
          </a:p>
        </p:txBody>
      </p:sp>
      <p:sp>
        <p:nvSpPr>
          <p:cNvPr id="17" name="Shape 15"/>
          <p:cNvSpPr/>
          <p:nvPr/>
        </p:nvSpPr>
        <p:spPr>
          <a:xfrm>
            <a:off x="475488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8" name="Shape 16"/>
          <p:cNvSpPr/>
          <p:nvPr/>
        </p:nvSpPr>
        <p:spPr>
          <a:xfrm>
            <a:off x="4754880" y="2286000"/>
            <a:ext cx="64008" cy="1143000"/>
          </a:xfrm>
          <a:prstGeom prst="rect">
            <a:avLst/>
          </a:prstGeom>
          <a:solidFill>
            <a:srgbClr val="BC8CFF"/>
          </a:solidFill>
          <a:ln w="12700">
            <a:solidFill>
              <a:srgbClr val="BC8CFF"/>
            </a:solidFill>
            <a:prstDash val="solid"/>
          </a:ln>
        </p:spPr>
      </p:sp>
      <p:sp>
        <p:nvSpPr>
          <p:cNvPr id="21" name="Shape 19"/>
          <p:cNvSpPr/>
          <p:nvPr/>
        </p:nvSpPr>
        <p:spPr>
          <a:xfrm>
            <a:off x="36576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2" name="Shape 20"/>
          <p:cNvSpPr/>
          <p:nvPr/>
        </p:nvSpPr>
        <p:spPr>
          <a:xfrm>
            <a:off x="365760" y="3547872"/>
            <a:ext cx="64008" cy="1143000"/>
          </a:xfrm>
          <a:prstGeom prst="rect">
            <a:avLst/>
          </a:prstGeom>
          <a:solidFill>
            <a:srgbClr val="E3B341"/>
          </a:solidFill>
          <a:ln w="12700">
            <a:solidFill>
              <a:srgbClr val="E3B341"/>
            </a:solidFill>
            <a:prstDash val="solid"/>
          </a:ln>
        </p:spPr>
      </p:sp>
      <p:sp>
        <p:nvSpPr>
          <p:cNvPr id="23" name="Text 21"/>
          <p:cNvSpPr/>
          <p:nvPr/>
        </p:nvSpPr>
        <p:spPr>
          <a:xfrm>
            <a:off x="502920" y="3639312"/>
            <a:ext cx="4023360" cy="347472"/>
          </a:xfrm>
          <a:prstGeom prst="rect">
            <a:avLst/>
          </a:prstGeom>
          <a:noFill/>
          <a:ln/>
        </p:spPr>
        <p:txBody>
          <a:bodyPr wrap="square" lIns="0" tIns="0" rIns="0" bIns="0" rtlCol="0" anchor="ctr"/>
          <a:lstStyle/>
          <a:p>
            <a:pPr marL="0" indent="0">
              <a:buNone/>
            </a:pPr>
            <a:r>
              <a:rPr lang="en-US" sz="1350" b="1" dirty="0">
                <a:solidFill>
                  <a:srgbClr val="E3B341"/>
                </a:solidFill>
                <a:latin typeface="Consolas" pitchFamily="34" charset="0"/>
                <a:ea typeface="Consolas" pitchFamily="34" charset="-122"/>
                <a:cs typeface="Consolas" pitchFamily="34" charset="-120"/>
              </a:rPr>
              <a:t>🔗  git merge</a:t>
            </a:r>
            <a:endParaRPr lang="en-US" sz="1350" dirty="0"/>
          </a:p>
        </p:txBody>
      </p:sp>
      <p:sp>
        <p:nvSpPr>
          <p:cNvPr id="24" name="Text 22"/>
          <p:cNvSpPr/>
          <p:nvPr/>
        </p:nvSpPr>
        <p:spPr>
          <a:xfrm>
            <a:off x="502920" y="3986784"/>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Fusionne une branche dans la branche courante</a:t>
            </a:r>
            <a:endParaRPr lang="en-US" sz="1150" dirty="0"/>
          </a:p>
        </p:txBody>
      </p:sp>
      <p:sp>
        <p:nvSpPr>
          <p:cNvPr id="25" name="Shape 23"/>
          <p:cNvSpPr/>
          <p:nvPr/>
        </p:nvSpPr>
        <p:spPr>
          <a:xfrm>
            <a:off x="475488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6" name="Shape 24"/>
          <p:cNvSpPr/>
          <p:nvPr/>
        </p:nvSpPr>
        <p:spPr>
          <a:xfrm>
            <a:off x="4754880" y="3547872"/>
            <a:ext cx="64008" cy="1143000"/>
          </a:xfrm>
          <a:prstGeom prst="rect">
            <a:avLst/>
          </a:prstGeom>
          <a:solidFill>
            <a:srgbClr val="F05133"/>
          </a:solidFill>
          <a:ln w="12700">
            <a:solidFill>
              <a:srgbClr val="F05133"/>
            </a:solidFill>
            <a:prstDash val="solid"/>
          </a:ln>
        </p:spPr>
      </p:sp>
      <p:sp>
        <p:nvSpPr>
          <p:cNvPr id="27" name="Text 25"/>
          <p:cNvSpPr/>
          <p:nvPr/>
        </p:nvSpPr>
        <p:spPr>
          <a:xfrm>
            <a:off x="502920" y="2377440"/>
            <a:ext cx="4023360" cy="347472"/>
          </a:xfrm>
          <a:prstGeom prst="rect">
            <a:avLst/>
          </a:prstGeom>
          <a:noFill/>
          <a:ln/>
        </p:spPr>
        <p:txBody>
          <a:bodyPr wrap="square" lIns="0" tIns="0" rIns="0" bIns="0" rtlCol="0" anchor="ctr"/>
          <a:lstStyle/>
          <a:p>
            <a:pPr marL="0" indent="0">
              <a:buNone/>
            </a:pPr>
            <a:r>
              <a:rPr lang="en-US" sz="1350" b="1" dirty="0">
                <a:solidFill>
                  <a:srgbClr val="F05133"/>
                </a:solidFill>
                <a:latin typeface="Consolas" pitchFamily="34" charset="0"/>
                <a:ea typeface="Consolas" pitchFamily="34" charset="-122"/>
                <a:cs typeface="Consolas" pitchFamily="34" charset="-120"/>
              </a:rPr>
              <a:t>🔍  git diff</a:t>
            </a:r>
            <a:endParaRPr lang="en-US" sz="1350" dirty="0"/>
          </a:p>
        </p:txBody>
      </p:sp>
      <p:sp>
        <p:nvSpPr>
          <p:cNvPr id="28" name="Text 26"/>
          <p:cNvSpPr/>
          <p:nvPr/>
        </p:nvSpPr>
        <p:spPr>
          <a:xfrm>
            <a:off x="548640" y="2755977"/>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Affiche les différences entre les fichiers modifiés</a:t>
            </a:r>
            <a:endParaRPr lang="en-US" sz="1150" dirty="0"/>
          </a:p>
        </p:txBody>
      </p:sp>
      <p:sp>
        <p:nvSpPr>
          <p:cNvPr id="29" name="Text 9"/>
          <p:cNvSpPr/>
          <p:nvPr/>
        </p:nvSpPr>
        <p:spPr>
          <a:xfrm>
            <a:off x="4858629" y="3649159"/>
            <a:ext cx="4023360" cy="347472"/>
          </a:xfrm>
          <a:prstGeom prst="rect">
            <a:avLst/>
          </a:prstGeom>
          <a:noFill/>
          <a:ln/>
        </p:spPr>
        <p:txBody>
          <a:bodyPr wrap="square" lIns="0" tIns="0" rIns="0" bIns="0" rtlCol="0" anchor="ctr"/>
          <a:lstStyle/>
          <a:p>
            <a:pPr marL="0" indent="0">
              <a:buNone/>
            </a:pPr>
            <a:r>
              <a:rPr lang="en-US" sz="1350" b="1" dirty="0">
                <a:solidFill>
                  <a:srgbClr val="58A6FF"/>
                </a:solidFill>
                <a:latin typeface="Consolas" pitchFamily="34" charset="0"/>
                <a:ea typeface="Consolas" pitchFamily="34" charset="-122"/>
                <a:cs typeface="Consolas" pitchFamily="34" charset="-120"/>
              </a:rPr>
              <a:t>📥  git clone &lt;url&gt;</a:t>
            </a:r>
            <a:endParaRPr lang="en-US" sz="1350" dirty="0"/>
          </a:p>
        </p:txBody>
      </p:sp>
      <p:sp>
        <p:nvSpPr>
          <p:cNvPr id="30" name="Text 10"/>
          <p:cNvSpPr/>
          <p:nvPr/>
        </p:nvSpPr>
        <p:spPr>
          <a:xfrm>
            <a:off x="4818888" y="4096512"/>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Copie un dépôt distant sur ta machine locale</a:t>
            </a:r>
            <a:endParaRPr lang="en-US" sz="1150" dirty="0"/>
          </a:p>
        </p:txBody>
      </p:sp>
      <p:sp>
        <p:nvSpPr>
          <p:cNvPr id="31" name="Text 25"/>
          <p:cNvSpPr/>
          <p:nvPr/>
        </p:nvSpPr>
        <p:spPr>
          <a:xfrm>
            <a:off x="502920" y="1115568"/>
            <a:ext cx="4023360" cy="347472"/>
          </a:xfrm>
          <a:prstGeom prst="rect">
            <a:avLst/>
          </a:prstGeom>
          <a:noFill/>
          <a:ln/>
        </p:spPr>
        <p:txBody>
          <a:bodyPr wrap="square" lIns="0" tIns="0" rIns="0" bIns="0" rtlCol="0" anchor="ctr"/>
          <a:lstStyle/>
          <a:p>
            <a:pPr marL="0" indent="0">
              <a:buNone/>
            </a:pPr>
            <a:r>
              <a:rPr lang="en-US" sz="1350" b="1" dirty="0">
                <a:solidFill>
                  <a:srgbClr val="F05133"/>
                </a:solidFill>
                <a:latin typeface="Consolas" pitchFamily="34" charset="0"/>
                <a:ea typeface="Consolas" pitchFamily="34" charset="-122"/>
                <a:cs typeface="Consolas" pitchFamily="34" charset="-120"/>
              </a:rPr>
              <a:t>📜  git log</a:t>
            </a:r>
            <a:endParaRPr lang="en-US" sz="1350" dirty="0"/>
          </a:p>
        </p:txBody>
      </p:sp>
      <p:sp>
        <p:nvSpPr>
          <p:cNvPr id="33" name="Text 6"/>
          <p:cNvSpPr/>
          <p:nvPr/>
        </p:nvSpPr>
        <p:spPr>
          <a:xfrm>
            <a:off x="4869180" y="2743316"/>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Envoie tes commits vers le dépôt distant (GitHub)</a:t>
            </a:r>
            <a:endParaRPr lang="en-US" sz="1150" dirty="0"/>
          </a:p>
        </p:txBody>
      </p:sp>
      <p:sp>
        <p:nvSpPr>
          <p:cNvPr id="34" name="Text 5"/>
          <p:cNvSpPr/>
          <p:nvPr/>
        </p:nvSpPr>
        <p:spPr>
          <a:xfrm>
            <a:off x="4892040" y="2377440"/>
            <a:ext cx="4023360" cy="347472"/>
          </a:xfrm>
          <a:prstGeom prst="rect">
            <a:avLst/>
          </a:prstGeom>
          <a:noFill/>
          <a:ln/>
        </p:spPr>
        <p:txBody>
          <a:bodyPr wrap="square" lIns="0" tIns="0" rIns="0" bIns="0" rtlCol="0" anchor="ctr"/>
          <a:lstStyle/>
          <a:p>
            <a:pPr marL="0" indent="0">
              <a:buNone/>
            </a:pPr>
            <a:r>
              <a:rPr lang="en-US" sz="1350" b="1" dirty="0">
                <a:solidFill>
                  <a:srgbClr val="F05133"/>
                </a:solidFill>
                <a:latin typeface="Consolas" pitchFamily="34" charset="0"/>
                <a:ea typeface="Consolas" pitchFamily="34" charset="-122"/>
                <a:cs typeface="Consolas" pitchFamily="34" charset="-120"/>
              </a:rPr>
              <a:t>🚀  git push</a:t>
            </a:r>
            <a:endParaRPr lang="en-US" sz="1350" dirty="0"/>
          </a:p>
        </p:txBody>
      </p:sp>
      <p:sp>
        <p:nvSpPr>
          <p:cNvPr id="35" name="Text 26"/>
          <p:cNvSpPr/>
          <p:nvPr/>
        </p:nvSpPr>
        <p:spPr>
          <a:xfrm>
            <a:off x="502920" y="1556238"/>
            <a:ext cx="4023360" cy="594360"/>
          </a:xfrm>
          <a:prstGeom prst="rect">
            <a:avLst/>
          </a:prstGeom>
          <a:noFill/>
          <a:ln/>
        </p:spPr>
        <p:txBody>
          <a:bodyPr wrap="square" lIns="0" tIns="0" rIns="0" bIns="0" rtlCol="0" anchor="ctr"/>
          <a:lstStyle/>
          <a:p>
            <a:pPr marL="0" indent="0">
              <a:buNone/>
            </a:pPr>
            <a:r>
              <a:rPr lang="en-US" sz="1150" dirty="0">
                <a:solidFill>
                  <a:srgbClr val="E6EDF3"/>
                </a:solidFill>
                <a:latin typeface="Calibri" pitchFamily="34" charset="0"/>
                <a:ea typeface="Calibri" pitchFamily="34" charset="-122"/>
                <a:cs typeface="Calibri" pitchFamily="34" charset="-120"/>
              </a:rPr>
              <a:t>Affiche l'historique complet des commits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58A6FF"/>
          </a:solidFill>
          <a:ln w="12700">
            <a:solidFill>
              <a:srgbClr val="58A6FF"/>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r>
              <a:rPr lang="en-US" sz="2800" b="1" dirty="0">
                <a:solidFill>
                  <a:srgbClr val="FFFFFF"/>
                </a:solidFill>
                <a:latin typeface="Arial Black" pitchFamily="34" charset="0"/>
                <a:ea typeface="Arial Black" pitchFamily="34" charset="-122"/>
                <a:cs typeface="Arial Black" pitchFamily="34" charset="-120"/>
              </a:rPr>
              <a:t>⚡ Les Commandes Git Essentielles</a:t>
            </a:r>
            <a:endParaRPr lang="en-US" sz="2800" dirty="0">
              <a:solidFill>
                <a:prstClr val="black"/>
              </a:solidFill>
            </a:endParaRPr>
          </a:p>
        </p:txBody>
      </p:sp>
      <p:sp>
        <p:nvSpPr>
          <p:cNvPr id="4" name="Text 2"/>
          <p:cNvSpPr/>
          <p:nvPr/>
        </p:nvSpPr>
        <p:spPr>
          <a:xfrm>
            <a:off x="365760" y="658368"/>
            <a:ext cx="8412480" cy="256032"/>
          </a:xfrm>
          <a:prstGeom prst="rect">
            <a:avLst/>
          </a:prstGeom>
          <a:noFill/>
          <a:ln/>
        </p:spPr>
        <p:txBody>
          <a:bodyPr wrap="square" lIns="0" tIns="0" rIns="0" bIns="0" rtlCol="0" anchor="ctr"/>
          <a:lstStyle/>
          <a:p>
            <a:r>
              <a:rPr lang="en-US" sz="1300" dirty="0">
                <a:solidFill>
                  <a:srgbClr val="8B949E"/>
                </a:solidFill>
                <a:ea typeface="Calibri" pitchFamily="34" charset="-122"/>
                <a:cs typeface="Calibri" pitchFamily="34" charset="-120"/>
              </a:rPr>
              <a:t>Commandes pour travailler avec des dépôts distants 🌍</a:t>
            </a:r>
            <a:endParaRPr lang="en-US" sz="1300" dirty="0">
              <a:solidFill>
                <a:prstClr val="black"/>
              </a:solidFill>
            </a:endParaRPr>
          </a:p>
        </p:txBody>
      </p:sp>
      <p:sp>
        <p:nvSpPr>
          <p:cNvPr id="5" name="Shape 3"/>
          <p:cNvSpPr/>
          <p:nvPr/>
        </p:nvSpPr>
        <p:spPr>
          <a:xfrm>
            <a:off x="36576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6" name="Shape 4"/>
          <p:cNvSpPr/>
          <p:nvPr/>
        </p:nvSpPr>
        <p:spPr>
          <a:xfrm>
            <a:off x="365760" y="1024128"/>
            <a:ext cx="64008" cy="1143000"/>
          </a:xfrm>
          <a:prstGeom prst="rect">
            <a:avLst/>
          </a:prstGeom>
          <a:solidFill>
            <a:srgbClr val="F05133"/>
          </a:solidFill>
          <a:ln w="12700">
            <a:solidFill>
              <a:srgbClr val="F05133"/>
            </a:solidFill>
            <a:prstDash val="solid"/>
          </a:ln>
        </p:spPr>
      </p:sp>
      <p:sp>
        <p:nvSpPr>
          <p:cNvPr id="8" name="Text 6"/>
          <p:cNvSpPr/>
          <p:nvPr/>
        </p:nvSpPr>
        <p:spPr>
          <a:xfrm>
            <a:off x="502920" y="1463040"/>
            <a:ext cx="4023360" cy="594360"/>
          </a:xfrm>
          <a:prstGeom prst="rect">
            <a:avLst/>
          </a:prstGeom>
          <a:noFill/>
          <a:ln/>
        </p:spPr>
        <p:txBody>
          <a:bodyPr wrap="square" lIns="0" tIns="0" rIns="0" bIns="0" rtlCol="0" anchor="ctr"/>
          <a:lstStyle/>
          <a:p>
            <a:endParaRPr lang="en-US" sz="1150" dirty="0">
              <a:solidFill>
                <a:prstClr val="black"/>
              </a:solidFill>
            </a:endParaRPr>
          </a:p>
        </p:txBody>
      </p:sp>
      <p:sp>
        <p:nvSpPr>
          <p:cNvPr id="9" name="Shape 7"/>
          <p:cNvSpPr/>
          <p:nvPr/>
        </p:nvSpPr>
        <p:spPr>
          <a:xfrm>
            <a:off x="4754880" y="1024128"/>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0" name="Shape 8"/>
          <p:cNvSpPr/>
          <p:nvPr/>
        </p:nvSpPr>
        <p:spPr>
          <a:xfrm>
            <a:off x="4754880" y="1024128"/>
            <a:ext cx="64008" cy="1143000"/>
          </a:xfrm>
          <a:prstGeom prst="rect">
            <a:avLst/>
          </a:prstGeom>
          <a:solidFill>
            <a:srgbClr val="58A6FF"/>
          </a:solidFill>
          <a:ln w="12700">
            <a:solidFill>
              <a:srgbClr val="58A6FF"/>
            </a:solidFill>
            <a:prstDash val="solid"/>
          </a:ln>
        </p:spPr>
      </p:sp>
      <p:sp>
        <p:nvSpPr>
          <p:cNvPr id="11" name="Text 9"/>
          <p:cNvSpPr/>
          <p:nvPr/>
        </p:nvSpPr>
        <p:spPr>
          <a:xfrm>
            <a:off x="4892040" y="1115568"/>
            <a:ext cx="4023360" cy="347472"/>
          </a:xfrm>
          <a:prstGeom prst="rect">
            <a:avLst/>
          </a:prstGeom>
          <a:noFill/>
          <a:ln/>
        </p:spPr>
        <p:txBody>
          <a:bodyPr wrap="square" lIns="0" tIns="0" rIns="0" bIns="0" rtlCol="0" anchor="ctr"/>
          <a:lstStyle/>
          <a:p>
            <a:r>
              <a:rPr lang="en-US" sz="1350" b="1" dirty="0">
                <a:solidFill>
                  <a:srgbClr val="58A6FF"/>
                </a:solidFill>
                <a:latin typeface="Consolas" pitchFamily="34" charset="0"/>
                <a:ea typeface="Consolas" pitchFamily="34" charset="-122"/>
                <a:cs typeface="Consolas" pitchFamily="34" charset="-120"/>
              </a:rPr>
              <a:t>⬇️  </a:t>
            </a:r>
            <a:r>
              <a:rPr lang="en-US" sz="1350" b="1" dirty="0" smtClean="0">
                <a:solidFill>
                  <a:srgbClr val="58A6FF"/>
                </a:solidFill>
                <a:latin typeface="Consolas" pitchFamily="34" charset="0"/>
                <a:ea typeface="Consolas" pitchFamily="34" charset="-122"/>
                <a:cs typeface="Consolas" pitchFamily="34" charset="-120"/>
              </a:rPr>
              <a:t>cd</a:t>
            </a:r>
            <a:endParaRPr lang="en-US" sz="1350" dirty="0">
              <a:solidFill>
                <a:prstClr val="black"/>
              </a:solidFill>
            </a:endParaRPr>
          </a:p>
        </p:txBody>
      </p:sp>
      <p:sp>
        <p:nvSpPr>
          <p:cNvPr id="12" name="Text 10"/>
          <p:cNvSpPr/>
          <p:nvPr/>
        </p:nvSpPr>
        <p:spPr>
          <a:xfrm>
            <a:off x="4892040" y="1463040"/>
            <a:ext cx="4023360" cy="594360"/>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changer de repertoire </a:t>
            </a:r>
            <a:r>
              <a:rPr lang="en-US" sz="1150" dirty="0" err="1" smtClean="0">
                <a:solidFill>
                  <a:srgbClr val="E6EDF3"/>
                </a:solidFill>
                <a:cs typeface="Calibri" pitchFamily="34" charset="-120"/>
              </a:rPr>
              <a:t>dans</a:t>
            </a:r>
            <a:r>
              <a:rPr lang="en-US" sz="1150" dirty="0" smtClean="0">
                <a:solidFill>
                  <a:srgbClr val="E6EDF3"/>
                </a:solidFill>
                <a:cs typeface="Calibri" pitchFamily="34" charset="-120"/>
              </a:rPr>
              <a:t> le terminal.</a:t>
            </a:r>
            <a:endParaRPr lang="en-US" sz="1150" dirty="0">
              <a:solidFill>
                <a:prstClr val="black"/>
              </a:solidFill>
            </a:endParaRPr>
          </a:p>
        </p:txBody>
      </p:sp>
      <p:sp>
        <p:nvSpPr>
          <p:cNvPr id="13" name="Shape 11"/>
          <p:cNvSpPr/>
          <p:nvPr/>
        </p:nvSpPr>
        <p:spPr>
          <a:xfrm>
            <a:off x="36576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4" name="Shape 12"/>
          <p:cNvSpPr/>
          <p:nvPr/>
        </p:nvSpPr>
        <p:spPr>
          <a:xfrm>
            <a:off x="365760" y="2286000"/>
            <a:ext cx="64008" cy="1143000"/>
          </a:xfrm>
          <a:prstGeom prst="rect">
            <a:avLst/>
          </a:prstGeom>
          <a:solidFill>
            <a:srgbClr val="3FB950"/>
          </a:solidFill>
          <a:ln w="12700">
            <a:solidFill>
              <a:srgbClr val="3FB950"/>
            </a:solidFill>
            <a:prstDash val="solid"/>
          </a:ln>
        </p:spPr>
      </p:sp>
      <p:sp>
        <p:nvSpPr>
          <p:cNvPr id="15" name="Text 13"/>
          <p:cNvSpPr/>
          <p:nvPr/>
        </p:nvSpPr>
        <p:spPr>
          <a:xfrm>
            <a:off x="502920" y="2377440"/>
            <a:ext cx="4023360" cy="347472"/>
          </a:xfrm>
          <a:prstGeom prst="rect">
            <a:avLst/>
          </a:prstGeom>
          <a:noFill/>
          <a:ln/>
        </p:spPr>
        <p:txBody>
          <a:bodyPr wrap="square" lIns="0" tIns="0" rIns="0" bIns="0" rtlCol="0" anchor="ctr"/>
          <a:lstStyle/>
          <a:p>
            <a:endParaRPr lang="en-US" sz="1350" dirty="0">
              <a:solidFill>
                <a:prstClr val="black"/>
              </a:solidFill>
            </a:endParaRPr>
          </a:p>
        </p:txBody>
      </p:sp>
      <p:sp>
        <p:nvSpPr>
          <p:cNvPr id="17" name="Shape 15"/>
          <p:cNvSpPr/>
          <p:nvPr/>
        </p:nvSpPr>
        <p:spPr>
          <a:xfrm>
            <a:off x="4754880" y="2286000"/>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8" name="Shape 16"/>
          <p:cNvSpPr/>
          <p:nvPr/>
        </p:nvSpPr>
        <p:spPr>
          <a:xfrm>
            <a:off x="4754880" y="2286000"/>
            <a:ext cx="64008" cy="1143000"/>
          </a:xfrm>
          <a:prstGeom prst="rect">
            <a:avLst/>
          </a:prstGeom>
          <a:solidFill>
            <a:srgbClr val="BC8CFF"/>
          </a:solidFill>
          <a:ln w="12700">
            <a:solidFill>
              <a:srgbClr val="BC8CFF"/>
            </a:solidFill>
            <a:prstDash val="solid"/>
          </a:ln>
        </p:spPr>
      </p:sp>
      <p:sp>
        <p:nvSpPr>
          <p:cNvPr id="21" name="Shape 19"/>
          <p:cNvSpPr/>
          <p:nvPr/>
        </p:nvSpPr>
        <p:spPr>
          <a:xfrm>
            <a:off x="36576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2" name="Shape 20"/>
          <p:cNvSpPr/>
          <p:nvPr/>
        </p:nvSpPr>
        <p:spPr>
          <a:xfrm>
            <a:off x="365760" y="3547872"/>
            <a:ext cx="64008" cy="1143000"/>
          </a:xfrm>
          <a:prstGeom prst="rect">
            <a:avLst/>
          </a:prstGeom>
          <a:solidFill>
            <a:srgbClr val="E3B341"/>
          </a:solidFill>
          <a:ln w="12700">
            <a:solidFill>
              <a:srgbClr val="E3B341"/>
            </a:solidFill>
            <a:prstDash val="solid"/>
          </a:ln>
        </p:spPr>
      </p:sp>
      <p:sp>
        <p:nvSpPr>
          <p:cNvPr id="23" name="Text 21"/>
          <p:cNvSpPr/>
          <p:nvPr/>
        </p:nvSpPr>
        <p:spPr>
          <a:xfrm>
            <a:off x="502920" y="3639312"/>
            <a:ext cx="4023360" cy="347472"/>
          </a:xfrm>
          <a:prstGeom prst="rect">
            <a:avLst/>
          </a:prstGeom>
          <a:noFill/>
          <a:ln/>
        </p:spPr>
        <p:txBody>
          <a:bodyPr wrap="square" lIns="0" tIns="0" rIns="0" bIns="0" rtlCol="0" anchor="ctr"/>
          <a:lstStyle/>
          <a:p>
            <a:r>
              <a:rPr lang="en-US" sz="1350" b="1" dirty="0">
                <a:solidFill>
                  <a:srgbClr val="E3B341"/>
                </a:solidFill>
                <a:latin typeface="Consolas" pitchFamily="34" charset="0"/>
                <a:ea typeface="Consolas" pitchFamily="34" charset="-122"/>
                <a:cs typeface="Consolas" pitchFamily="34" charset="-120"/>
              </a:rPr>
              <a:t>🔗  </a:t>
            </a:r>
            <a:r>
              <a:rPr lang="en-US" sz="1350" b="1" dirty="0" err="1">
                <a:solidFill>
                  <a:srgbClr val="E3B341"/>
                </a:solidFill>
                <a:latin typeface="Consolas" pitchFamily="34" charset="0"/>
                <a:ea typeface="Consolas" pitchFamily="34" charset="-122"/>
                <a:cs typeface="Consolas" pitchFamily="34" charset="-120"/>
              </a:rPr>
              <a:t>git</a:t>
            </a:r>
            <a:r>
              <a:rPr lang="en-US" sz="1350" b="1" dirty="0">
                <a:solidFill>
                  <a:srgbClr val="E3B341"/>
                </a:solidFill>
                <a:latin typeface="Consolas" pitchFamily="34" charset="0"/>
                <a:ea typeface="Consolas" pitchFamily="34" charset="-122"/>
                <a:cs typeface="Consolas" pitchFamily="34" charset="-120"/>
              </a:rPr>
              <a:t> </a:t>
            </a:r>
            <a:r>
              <a:rPr lang="en-US" sz="1350" b="1" dirty="0" smtClean="0">
                <a:solidFill>
                  <a:srgbClr val="E3B341"/>
                </a:solidFill>
                <a:latin typeface="Consolas" pitchFamily="34" charset="0"/>
                <a:ea typeface="Consolas" pitchFamily="34" charset="-122"/>
                <a:cs typeface="Consolas" pitchFamily="34" charset="-120"/>
              </a:rPr>
              <a:t>restore</a:t>
            </a:r>
            <a:endParaRPr lang="en-US" sz="1350" dirty="0">
              <a:solidFill>
                <a:prstClr val="black"/>
              </a:solidFill>
            </a:endParaRPr>
          </a:p>
        </p:txBody>
      </p:sp>
      <p:sp>
        <p:nvSpPr>
          <p:cNvPr id="24" name="Text 22"/>
          <p:cNvSpPr/>
          <p:nvPr/>
        </p:nvSpPr>
        <p:spPr>
          <a:xfrm>
            <a:off x="502920" y="3986784"/>
            <a:ext cx="4023360" cy="594360"/>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restaurer</a:t>
            </a:r>
            <a:r>
              <a:rPr lang="en-US" sz="1150" dirty="0" smtClean="0">
                <a:solidFill>
                  <a:srgbClr val="E6EDF3"/>
                </a:solidFill>
                <a:cs typeface="Calibri" pitchFamily="34" charset="-120"/>
              </a:rPr>
              <a:t> les </a:t>
            </a:r>
            <a:r>
              <a:rPr lang="en-US" sz="1150" dirty="0" err="1" smtClean="0">
                <a:solidFill>
                  <a:srgbClr val="E6EDF3"/>
                </a:solidFill>
                <a:cs typeface="Calibri" pitchFamily="34" charset="-120"/>
              </a:rPr>
              <a:t>fichier</a:t>
            </a:r>
            <a:r>
              <a:rPr lang="en-US" sz="1150" dirty="0" smtClean="0">
                <a:solidFill>
                  <a:srgbClr val="E6EDF3"/>
                </a:solidFill>
                <a:cs typeface="Calibri" pitchFamily="34" charset="-120"/>
              </a:rPr>
              <a:t> a </a:t>
            </a:r>
            <a:r>
              <a:rPr lang="en-US" sz="1150" dirty="0" err="1" smtClean="0">
                <a:solidFill>
                  <a:srgbClr val="E6EDF3"/>
                </a:solidFill>
                <a:cs typeface="Calibri" pitchFamily="34" charset="-120"/>
              </a:rPr>
              <a:t>leur</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etat</a:t>
            </a:r>
            <a:r>
              <a:rPr lang="en-US" sz="1150" dirty="0" smtClean="0">
                <a:solidFill>
                  <a:srgbClr val="E6EDF3"/>
                </a:solidFill>
                <a:cs typeface="Calibri" pitchFamily="34" charset="-120"/>
              </a:rPr>
              <a:t> precedent </a:t>
            </a:r>
            <a:r>
              <a:rPr lang="en-US" sz="1150" dirty="0" err="1" smtClean="0">
                <a:solidFill>
                  <a:srgbClr val="E6EDF3"/>
                </a:solidFill>
                <a:cs typeface="Calibri" pitchFamily="34" charset="-120"/>
              </a:rPr>
              <a:t>ou</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d’annuler</a:t>
            </a:r>
            <a:r>
              <a:rPr lang="en-US" sz="1150" dirty="0" smtClean="0">
                <a:solidFill>
                  <a:srgbClr val="E6EDF3"/>
                </a:solidFill>
                <a:cs typeface="Calibri" pitchFamily="34" charset="-120"/>
              </a:rPr>
              <a:t> des modifications</a:t>
            </a:r>
            <a:endParaRPr lang="en-US" sz="1150" dirty="0">
              <a:solidFill>
                <a:prstClr val="black"/>
              </a:solidFill>
            </a:endParaRPr>
          </a:p>
        </p:txBody>
      </p:sp>
      <p:sp>
        <p:nvSpPr>
          <p:cNvPr id="25" name="Shape 23"/>
          <p:cNvSpPr/>
          <p:nvPr/>
        </p:nvSpPr>
        <p:spPr>
          <a:xfrm>
            <a:off x="4754880" y="3547872"/>
            <a:ext cx="4251960" cy="114300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6" name="Shape 24"/>
          <p:cNvSpPr/>
          <p:nvPr/>
        </p:nvSpPr>
        <p:spPr>
          <a:xfrm>
            <a:off x="4754880" y="3547872"/>
            <a:ext cx="64008" cy="1143000"/>
          </a:xfrm>
          <a:prstGeom prst="rect">
            <a:avLst/>
          </a:prstGeom>
          <a:solidFill>
            <a:srgbClr val="F05133"/>
          </a:solidFill>
          <a:ln w="12700">
            <a:solidFill>
              <a:srgbClr val="F05133"/>
            </a:solidFill>
            <a:prstDash val="solid"/>
          </a:ln>
        </p:spPr>
      </p:sp>
      <p:sp>
        <p:nvSpPr>
          <p:cNvPr id="27" name="Text 25"/>
          <p:cNvSpPr/>
          <p:nvPr/>
        </p:nvSpPr>
        <p:spPr>
          <a:xfrm>
            <a:off x="502920" y="2377440"/>
            <a:ext cx="4023360" cy="347472"/>
          </a:xfrm>
          <a:prstGeom prst="rect">
            <a:avLst/>
          </a:prstGeom>
          <a:noFill/>
          <a:ln/>
        </p:spPr>
        <p:txBody>
          <a:bodyPr wrap="square" lIns="0" tIns="0" rIns="0" bIns="0" rtlCol="0" anchor="ctr"/>
          <a:lstStyle/>
          <a:p>
            <a:r>
              <a:rPr lang="en-US" sz="1350" b="1" dirty="0">
                <a:solidFill>
                  <a:srgbClr val="F05133"/>
                </a:solidFill>
                <a:latin typeface="Consolas" pitchFamily="34" charset="0"/>
                <a:ea typeface="Consolas" pitchFamily="34" charset="-122"/>
                <a:cs typeface="Consolas" pitchFamily="34" charset="-120"/>
              </a:rPr>
              <a:t>🔍  </a:t>
            </a:r>
            <a:r>
              <a:rPr lang="en-US" sz="1350" b="1" dirty="0" err="1">
                <a:solidFill>
                  <a:srgbClr val="F05133"/>
                </a:solidFill>
                <a:latin typeface="Consolas" pitchFamily="34" charset="0"/>
                <a:ea typeface="Consolas" pitchFamily="34" charset="-122"/>
                <a:cs typeface="Consolas" pitchFamily="34" charset="-120"/>
              </a:rPr>
              <a:t>git</a:t>
            </a:r>
            <a:r>
              <a:rPr lang="en-US" sz="1350" b="1" dirty="0">
                <a:solidFill>
                  <a:srgbClr val="F05133"/>
                </a:solidFill>
                <a:latin typeface="Consolas" pitchFamily="34" charset="0"/>
                <a:ea typeface="Consolas" pitchFamily="34" charset="-122"/>
                <a:cs typeface="Consolas" pitchFamily="34" charset="-120"/>
              </a:rPr>
              <a:t> </a:t>
            </a:r>
            <a:r>
              <a:rPr lang="en-US" sz="1350" b="1" dirty="0" smtClean="0">
                <a:solidFill>
                  <a:srgbClr val="F05133"/>
                </a:solidFill>
                <a:latin typeface="Consolas" pitchFamily="34" charset="0"/>
                <a:ea typeface="Consolas" pitchFamily="34" charset="-122"/>
                <a:cs typeface="Consolas" pitchFamily="34" charset="-120"/>
              </a:rPr>
              <a:t>reset</a:t>
            </a:r>
            <a:endParaRPr lang="en-US" sz="1350" dirty="0">
              <a:solidFill>
                <a:prstClr val="black"/>
              </a:solidFill>
            </a:endParaRPr>
          </a:p>
        </p:txBody>
      </p:sp>
      <p:sp>
        <p:nvSpPr>
          <p:cNvPr id="28" name="Text 26"/>
          <p:cNvSpPr/>
          <p:nvPr/>
        </p:nvSpPr>
        <p:spPr>
          <a:xfrm>
            <a:off x="548640" y="2755977"/>
            <a:ext cx="4023360" cy="594360"/>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revenir</a:t>
            </a:r>
            <a:r>
              <a:rPr lang="en-US" sz="1150" dirty="0" smtClean="0">
                <a:solidFill>
                  <a:srgbClr val="E6EDF3"/>
                </a:solidFill>
                <a:cs typeface="Calibri" pitchFamily="34" charset="-120"/>
              </a:rPr>
              <a:t> a un </a:t>
            </a:r>
            <a:r>
              <a:rPr lang="en-US" sz="1150" dirty="0" err="1" smtClean="0">
                <a:solidFill>
                  <a:srgbClr val="E6EDF3"/>
                </a:solidFill>
                <a:cs typeface="Calibri" pitchFamily="34" charset="-120"/>
              </a:rPr>
              <a:t>etat</a:t>
            </a:r>
            <a:r>
              <a:rPr lang="en-US" sz="1150" dirty="0" smtClean="0">
                <a:solidFill>
                  <a:srgbClr val="E6EDF3"/>
                </a:solidFill>
                <a:cs typeface="Calibri" pitchFamily="34" charset="-120"/>
              </a:rPr>
              <a:t> precedent du </a:t>
            </a:r>
            <a:r>
              <a:rPr lang="en-US" sz="1150" dirty="0" err="1" smtClean="0">
                <a:solidFill>
                  <a:srgbClr val="E6EDF3"/>
                </a:solidFill>
                <a:cs typeface="Calibri" pitchFamily="34" charset="-120"/>
              </a:rPr>
              <a:t>projet</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ou</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supprimer</a:t>
            </a:r>
            <a:r>
              <a:rPr lang="en-US" sz="1150" dirty="0" smtClean="0">
                <a:solidFill>
                  <a:srgbClr val="E6EDF3"/>
                </a:solidFill>
                <a:cs typeface="Calibri" pitchFamily="34" charset="-120"/>
              </a:rPr>
              <a:t> des modifications</a:t>
            </a:r>
            <a:endParaRPr lang="en-US" sz="1150" dirty="0">
              <a:solidFill>
                <a:prstClr val="black"/>
              </a:solidFill>
            </a:endParaRPr>
          </a:p>
        </p:txBody>
      </p:sp>
      <p:sp>
        <p:nvSpPr>
          <p:cNvPr id="29" name="Text 9"/>
          <p:cNvSpPr/>
          <p:nvPr/>
        </p:nvSpPr>
        <p:spPr>
          <a:xfrm>
            <a:off x="4858629" y="3649159"/>
            <a:ext cx="4023360" cy="347472"/>
          </a:xfrm>
          <a:prstGeom prst="rect">
            <a:avLst/>
          </a:prstGeom>
          <a:noFill/>
          <a:ln/>
        </p:spPr>
        <p:txBody>
          <a:bodyPr wrap="square" lIns="0" tIns="0" rIns="0" bIns="0" rtlCol="0" anchor="ctr"/>
          <a:lstStyle/>
          <a:p>
            <a:r>
              <a:rPr lang="en-US" sz="1350" b="1" dirty="0">
                <a:solidFill>
                  <a:srgbClr val="58A6FF"/>
                </a:solidFill>
                <a:latin typeface="Consolas" pitchFamily="34" charset="0"/>
                <a:ea typeface="Consolas" pitchFamily="34" charset="-122"/>
                <a:cs typeface="Consolas" pitchFamily="34" charset="-120"/>
              </a:rPr>
              <a:t>📥  </a:t>
            </a:r>
            <a:r>
              <a:rPr lang="en-US" sz="1350" b="1" dirty="0" smtClean="0">
                <a:solidFill>
                  <a:srgbClr val="58A6FF"/>
                </a:solidFill>
                <a:latin typeface="Consolas" pitchFamily="34" charset="0"/>
                <a:ea typeface="Consolas" pitchFamily="34" charset="-122"/>
                <a:cs typeface="Consolas" pitchFamily="34" charset="-120"/>
              </a:rPr>
              <a:t>cd %USERPROFILE%</a:t>
            </a:r>
            <a:endParaRPr lang="en-US" sz="1350" dirty="0">
              <a:solidFill>
                <a:prstClr val="black"/>
              </a:solidFill>
            </a:endParaRPr>
          </a:p>
        </p:txBody>
      </p:sp>
      <p:sp>
        <p:nvSpPr>
          <p:cNvPr id="30" name="Text 10"/>
          <p:cNvSpPr/>
          <p:nvPr/>
        </p:nvSpPr>
        <p:spPr>
          <a:xfrm>
            <a:off x="4818888" y="4096512"/>
            <a:ext cx="4023360" cy="594360"/>
          </a:xfrm>
          <a:prstGeom prst="rect">
            <a:avLst/>
          </a:prstGeom>
          <a:noFill/>
          <a:ln/>
        </p:spPr>
        <p:txBody>
          <a:bodyPr wrap="square" lIns="0" tIns="0" rIns="0" bIns="0" rtlCol="0" anchor="ctr"/>
          <a:lstStyle/>
          <a:p>
            <a:r>
              <a:rPr lang="en-US" sz="1150" dirty="0" smtClean="0">
                <a:solidFill>
                  <a:srgbClr val="E6EDF3"/>
                </a:solidFill>
                <a:cs typeface="Calibri" pitchFamily="34" charset="-120"/>
              </a:rPr>
              <a:t>Accede </a:t>
            </a:r>
            <a:r>
              <a:rPr lang="en-US" sz="1150" dirty="0" err="1" smtClean="0">
                <a:solidFill>
                  <a:srgbClr val="E6EDF3"/>
                </a:solidFill>
                <a:cs typeface="Calibri" pitchFamily="34" charset="-120"/>
              </a:rPr>
              <a:t>directement</a:t>
            </a:r>
            <a:r>
              <a:rPr lang="en-US" sz="1150" dirty="0" smtClean="0">
                <a:solidFill>
                  <a:srgbClr val="E6EDF3"/>
                </a:solidFill>
                <a:cs typeface="Calibri" pitchFamily="34" charset="-120"/>
              </a:rPr>
              <a:t> au repertoire principal de </a:t>
            </a:r>
            <a:r>
              <a:rPr lang="en-US" sz="1150" dirty="0" err="1" smtClean="0">
                <a:solidFill>
                  <a:srgbClr val="E6EDF3"/>
                </a:solidFill>
                <a:cs typeface="Calibri" pitchFamily="34" charset="-120"/>
              </a:rPr>
              <a:t>l’utilisateur</a:t>
            </a:r>
            <a:r>
              <a:rPr lang="en-US" sz="1150" dirty="0" smtClean="0">
                <a:solidFill>
                  <a:srgbClr val="E6EDF3"/>
                </a:solidFill>
                <a:cs typeface="Calibri" pitchFamily="34" charset="-120"/>
              </a:rPr>
              <a:t> </a:t>
            </a:r>
            <a:r>
              <a:rPr lang="en-US" sz="1150" smtClean="0">
                <a:solidFill>
                  <a:srgbClr val="E6EDF3"/>
                </a:solidFill>
                <a:cs typeface="Calibri" pitchFamily="34" charset="-120"/>
              </a:rPr>
              <a:t>sous Windows</a:t>
            </a:r>
            <a:endParaRPr lang="en-US" sz="1150" dirty="0">
              <a:solidFill>
                <a:prstClr val="black"/>
              </a:solidFill>
            </a:endParaRPr>
          </a:p>
        </p:txBody>
      </p:sp>
      <p:sp>
        <p:nvSpPr>
          <p:cNvPr id="31" name="Text 25"/>
          <p:cNvSpPr/>
          <p:nvPr/>
        </p:nvSpPr>
        <p:spPr>
          <a:xfrm>
            <a:off x="502920" y="1115568"/>
            <a:ext cx="4023360" cy="347472"/>
          </a:xfrm>
          <a:prstGeom prst="rect">
            <a:avLst/>
          </a:prstGeom>
          <a:noFill/>
          <a:ln/>
        </p:spPr>
        <p:txBody>
          <a:bodyPr wrap="square" lIns="0" tIns="0" rIns="0" bIns="0" rtlCol="0" anchor="ctr"/>
          <a:lstStyle/>
          <a:p>
            <a:r>
              <a:rPr lang="en-US" sz="1350" b="1" dirty="0">
                <a:solidFill>
                  <a:srgbClr val="F05133"/>
                </a:solidFill>
                <a:latin typeface="Consolas" pitchFamily="34" charset="0"/>
                <a:ea typeface="Consolas" pitchFamily="34" charset="-122"/>
                <a:cs typeface="Consolas" pitchFamily="34" charset="-120"/>
              </a:rPr>
              <a:t>📜  </a:t>
            </a:r>
            <a:r>
              <a:rPr lang="en-US" sz="1350" b="1" dirty="0" err="1" smtClean="0">
                <a:solidFill>
                  <a:srgbClr val="F05133"/>
                </a:solidFill>
                <a:latin typeface="Consolas" pitchFamily="34" charset="0"/>
                <a:ea typeface="Consolas" pitchFamily="34" charset="-122"/>
                <a:cs typeface="Consolas" pitchFamily="34" charset="-120"/>
              </a:rPr>
              <a:t>mkdir</a:t>
            </a:r>
            <a:endParaRPr lang="en-US" sz="1350" dirty="0">
              <a:solidFill>
                <a:prstClr val="black"/>
              </a:solidFill>
            </a:endParaRPr>
          </a:p>
        </p:txBody>
      </p:sp>
      <p:sp>
        <p:nvSpPr>
          <p:cNvPr id="33" name="Text 6"/>
          <p:cNvSpPr/>
          <p:nvPr/>
        </p:nvSpPr>
        <p:spPr>
          <a:xfrm>
            <a:off x="4869180" y="2518351"/>
            <a:ext cx="4023360" cy="413122"/>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revenir</a:t>
            </a:r>
            <a:r>
              <a:rPr lang="en-US" sz="1150" dirty="0" smtClean="0">
                <a:solidFill>
                  <a:srgbClr val="E6EDF3"/>
                </a:solidFill>
                <a:cs typeface="Calibri" pitchFamily="34" charset="-120"/>
              </a:rPr>
              <a:t> au repertoire parent</a:t>
            </a:r>
            <a:endParaRPr lang="en-US" sz="1150" dirty="0">
              <a:solidFill>
                <a:prstClr val="black"/>
              </a:solidFill>
            </a:endParaRPr>
          </a:p>
        </p:txBody>
      </p:sp>
      <p:sp>
        <p:nvSpPr>
          <p:cNvPr id="34" name="Text 5"/>
          <p:cNvSpPr/>
          <p:nvPr/>
        </p:nvSpPr>
        <p:spPr>
          <a:xfrm>
            <a:off x="4892040" y="2286000"/>
            <a:ext cx="4023360" cy="347472"/>
          </a:xfrm>
          <a:prstGeom prst="rect">
            <a:avLst/>
          </a:prstGeom>
          <a:noFill/>
          <a:ln/>
        </p:spPr>
        <p:txBody>
          <a:bodyPr wrap="square" lIns="0" tIns="0" rIns="0" bIns="0" rtlCol="0" anchor="ctr"/>
          <a:lstStyle/>
          <a:p>
            <a:r>
              <a:rPr lang="en-US" sz="1350" b="1" dirty="0">
                <a:solidFill>
                  <a:srgbClr val="F05133"/>
                </a:solidFill>
                <a:latin typeface="Consolas" pitchFamily="34" charset="0"/>
                <a:ea typeface="Consolas" pitchFamily="34" charset="-122"/>
                <a:cs typeface="Consolas" pitchFamily="34" charset="-120"/>
              </a:rPr>
              <a:t>🚀  </a:t>
            </a:r>
            <a:r>
              <a:rPr lang="en-US" sz="1350" b="1" dirty="0" smtClean="0">
                <a:solidFill>
                  <a:srgbClr val="F05133"/>
                </a:solidFill>
                <a:latin typeface="Consolas" pitchFamily="34" charset="0"/>
                <a:ea typeface="Consolas" pitchFamily="34" charset="-122"/>
                <a:cs typeface="Consolas" pitchFamily="34" charset="-120"/>
              </a:rPr>
              <a:t>cd ..</a:t>
            </a:r>
            <a:endParaRPr lang="en-US" sz="1350" dirty="0">
              <a:solidFill>
                <a:prstClr val="black"/>
              </a:solidFill>
            </a:endParaRPr>
          </a:p>
        </p:txBody>
      </p:sp>
      <p:sp>
        <p:nvSpPr>
          <p:cNvPr id="35" name="Text 26"/>
          <p:cNvSpPr/>
          <p:nvPr/>
        </p:nvSpPr>
        <p:spPr>
          <a:xfrm>
            <a:off x="480060" y="1471832"/>
            <a:ext cx="4023360" cy="594360"/>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C’est</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une</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commande</a:t>
            </a:r>
            <a:r>
              <a:rPr lang="en-US" sz="1150" dirty="0" smtClean="0">
                <a:solidFill>
                  <a:srgbClr val="E6EDF3"/>
                </a:solidFill>
                <a:cs typeface="Calibri" pitchFamily="34" charset="-120"/>
              </a:rPr>
              <a:t> du terminal qui </a:t>
            </a:r>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creer</a:t>
            </a:r>
            <a:r>
              <a:rPr lang="en-US" sz="1150" dirty="0" smtClean="0">
                <a:solidFill>
                  <a:srgbClr val="E6EDF3"/>
                </a:solidFill>
                <a:cs typeface="Calibri" pitchFamily="34" charset="-120"/>
              </a:rPr>
              <a:t> un nouveau dossier(repertoire) .</a:t>
            </a:r>
            <a:endParaRPr lang="en-US" sz="1150" dirty="0">
              <a:solidFill>
                <a:prstClr val="black"/>
              </a:solidFill>
            </a:endParaRPr>
          </a:p>
        </p:txBody>
      </p:sp>
      <p:sp>
        <p:nvSpPr>
          <p:cNvPr id="32" name="Text 9"/>
          <p:cNvSpPr/>
          <p:nvPr/>
        </p:nvSpPr>
        <p:spPr>
          <a:xfrm>
            <a:off x="4869180" y="2803926"/>
            <a:ext cx="4023360" cy="347472"/>
          </a:xfrm>
          <a:prstGeom prst="rect">
            <a:avLst/>
          </a:prstGeom>
          <a:noFill/>
          <a:ln/>
        </p:spPr>
        <p:txBody>
          <a:bodyPr wrap="square" lIns="0" tIns="0" rIns="0" bIns="0" rtlCol="0" anchor="ctr"/>
          <a:lstStyle/>
          <a:p>
            <a:r>
              <a:rPr lang="en-US" sz="1350" b="1" dirty="0">
                <a:solidFill>
                  <a:srgbClr val="58A6FF"/>
                </a:solidFill>
                <a:latin typeface="Consolas" pitchFamily="34" charset="0"/>
                <a:ea typeface="Consolas" pitchFamily="34" charset="-122"/>
                <a:cs typeface="Consolas" pitchFamily="34" charset="-120"/>
              </a:rPr>
              <a:t>📥  </a:t>
            </a:r>
            <a:r>
              <a:rPr lang="en-US" sz="1350" b="1" dirty="0" smtClean="0">
                <a:solidFill>
                  <a:srgbClr val="58A6FF"/>
                </a:solidFill>
                <a:latin typeface="Consolas" pitchFamily="34" charset="0"/>
                <a:ea typeface="Consolas" pitchFamily="34" charset="-122"/>
                <a:cs typeface="Consolas" pitchFamily="34" charset="-120"/>
              </a:rPr>
              <a:t>cd ../..</a:t>
            </a:r>
            <a:endParaRPr lang="en-US" sz="1350" dirty="0">
              <a:solidFill>
                <a:prstClr val="black"/>
              </a:solidFill>
            </a:endParaRPr>
          </a:p>
        </p:txBody>
      </p:sp>
      <p:sp>
        <p:nvSpPr>
          <p:cNvPr id="36" name="Text 6"/>
          <p:cNvSpPr/>
          <p:nvPr/>
        </p:nvSpPr>
        <p:spPr>
          <a:xfrm>
            <a:off x="4818888" y="3060660"/>
            <a:ext cx="4023360" cy="413122"/>
          </a:xfrm>
          <a:prstGeom prst="rect">
            <a:avLst/>
          </a:prstGeom>
          <a:noFill/>
          <a:ln/>
        </p:spPr>
        <p:txBody>
          <a:bodyPr wrap="square" lIns="0" tIns="0" rIns="0" bIns="0" rtlCol="0" anchor="ctr"/>
          <a:lstStyle/>
          <a:p>
            <a:r>
              <a:rPr lang="en-US" sz="1150" dirty="0" err="1" smtClean="0">
                <a:solidFill>
                  <a:srgbClr val="E6EDF3"/>
                </a:solidFill>
                <a:cs typeface="Calibri" pitchFamily="34" charset="-120"/>
              </a:rPr>
              <a:t>Permet</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remonted</a:t>
            </a:r>
            <a:r>
              <a:rPr lang="en-US" sz="1150" dirty="0" smtClean="0">
                <a:solidFill>
                  <a:srgbClr val="E6EDF3"/>
                </a:solidFill>
                <a:cs typeface="Calibri" pitchFamily="34" charset="-120"/>
              </a:rPr>
              <a:t> de </a:t>
            </a:r>
            <a:r>
              <a:rPr lang="en-US" sz="1150" dirty="0" err="1" smtClean="0">
                <a:solidFill>
                  <a:srgbClr val="E6EDF3"/>
                </a:solidFill>
                <a:cs typeface="Calibri" pitchFamily="34" charset="-120"/>
              </a:rPr>
              <a:t>deux</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niveaux</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dans</a:t>
            </a:r>
            <a:r>
              <a:rPr lang="en-US" sz="1150" dirty="0" smtClean="0">
                <a:solidFill>
                  <a:srgbClr val="E6EDF3"/>
                </a:solidFill>
                <a:cs typeface="Calibri" pitchFamily="34" charset="-120"/>
              </a:rPr>
              <a:t> </a:t>
            </a:r>
            <a:r>
              <a:rPr lang="en-US" sz="1150" dirty="0" err="1" smtClean="0">
                <a:solidFill>
                  <a:srgbClr val="E6EDF3"/>
                </a:solidFill>
                <a:cs typeface="Calibri" pitchFamily="34" charset="-120"/>
              </a:rPr>
              <a:t>l’arborescence</a:t>
            </a:r>
            <a:r>
              <a:rPr lang="en-US" sz="1150" dirty="0" smtClean="0">
                <a:solidFill>
                  <a:srgbClr val="E6EDF3"/>
                </a:solidFill>
                <a:cs typeface="Calibri" pitchFamily="34" charset="-120"/>
              </a:rPr>
              <a:t> des repertoires.</a:t>
            </a:r>
            <a:endParaRPr lang="en-US" sz="1150" dirty="0">
              <a:solidFill>
                <a:prstClr val="black"/>
              </a:solidFill>
            </a:endParaRPr>
          </a:p>
        </p:txBody>
      </p:sp>
    </p:spTree>
    <p:extLst>
      <p:ext uri="{BB962C8B-B14F-4D97-AF65-F5344CB8AC3E}">
        <p14:creationId xmlns:p14="http://schemas.microsoft.com/office/powerpoint/2010/main" val="3339368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3FB950"/>
          </a:solidFill>
          <a:ln w="12700">
            <a:solidFill>
              <a:srgbClr val="3FB950"/>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2400" b="1" dirty="0">
                <a:solidFill>
                  <a:srgbClr val="FFFFFF"/>
                </a:solidFill>
                <a:latin typeface="Arial Black" pitchFamily="34" charset="0"/>
                <a:ea typeface="Arial Black" pitchFamily="34" charset="-122"/>
                <a:cs typeface="Arial Black" pitchFamily="34" charset="-120"/>
              </a:rPr>
              <a:t>🔄 Le Cycle de Vie d'un Changement avec Git</a:t>
            </a:r>
            <a:endParaRPr lang="en-US" sz="2400" dirty="0"/>
          </a:p>
        </p:txBody>
      </p:sp>
      <p:sp>
        <p:nvSpPr>
          <p:cNvPr id="4" name="Text 2"/>
          <p:cNvSpPr/>
          <p:nvPr/>
        </p:nvSpPr>
        <p:spPr>
          <a:xfrm>
            <a:off x="365760" y="658368"/>
            <a:ext cx="8412480" cy="256032"/>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De la modification locale au dépôt distant, étape par étape 📋</a:t>
            </a:r>
            <a:endParaRPr lang="en-US" sz="1300" dirty="0"/>
          </a:p>
        </p:txBody>
      </p:sp>
      <p:sp>
        <p:nvSpPr>
          <p:cNvPr id="5" name="Shape 3"/>
          <p:cNvSpPr/>
          <p:nvPr/>
        </p:nvSpPr>
        <p:spPr>
          <a:xfrm>
            <a:off x="274320" y="1005840"/>
            <a:ext cx="2011680" cy="3200400"/>
          </a:xfrm>
          <a:prstGeom prst="rect">
            <a:avLst/>
          </a:prstGeom>
          <a:solidFill>
            <a:srgbClr val="161B22"/>
          </a:solidFill>
          <a:ln w="12700">
            <a:solidFill>
              <a:srgbClr val="F05133"/>
            </a:solidFill>
            <a:prstDash val="solid"/>
          </a:ln>
          <a:effectLst>
            <a:outerShdw blurRad="101600" dist="38100" dir="8100000" algn="bl" rotWithShape="0">
              <a:srgbClr val="000000">
                <a:alpha val="30000"/>
              </a:srgbClr>
            </a:outerShdw>
          </a:effectLst>
        </p:spPr>
      </p:sp>
      <p:sp>
        <p:nvSpPr>
          <p:cNvPr id="6" name="Shape 4"/>
          <p:cNvSpPr/>
          <p:nvPr/>
        </p:nvSpPr>
        <p:spPr>
          <a:xfrm>
            <a:off x="274320" y="1005840"/>
            <a:ext cx="2011680" cy="64008"/>
          </a:xfrm>
          <a:prstGeom prst="rect">
            <a:avLst/>
          </a:prstGeom>
          <a:solidFill>
            <a:srgbClr val="F05133"/>
          </a:solidFill>
          <a:ln w="12700">
            <a:solidFill>
              <a:srgbClr val="F05133"/>
            </a:solidFill>
            <a:prstDash val="solid"/>
          </a:ln>
        </p:spPr>
      </p:sp>
      <p:sp>
        <p:nvSpPr>
          <p:cNvPr id="7" name="Shape 5"/>
          <p:cNvSpPr/>
          <p:nvPr/>
        </p:nvSpPr>
        <p:spPr>
          <a:xfrm>
            <a:off x="960120" y="1170432"/>
            <a:ext cx="640080" cy="640080"/>
          </a:xfrm>
          <a:prstGeom prst="ellipse">
            <a:avLst/>
          </a:prstGeom>
          <a:solidFill>
            <a:srgbClr val="F05133"/>
          </a:solidFill>
          <a:ln w="12700">
            <a:solidFill>
              <a:srgbClr val="F05133"/>
            </a:solidFill>
            <a:prstDash val="solid"/>
          </a:ln>
        </p:spPr>
      </p:sp>
      <p:sp>
        <p:nvSpPr>
          <p:cNvPr id="8" name="Text 6"/>
          <p:cNvSpPr/>
          <p:nvPr/>
        </p:nvSpPr>
        <p:spPr>
          <a:xfrm>
            <a:off x="960120" y="117043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9" name="Text 7"/>
          <p:cNvSpPr/>
          <p:nvPr/>
        </p:nvSpPr>
        <p:spPr>
          <a:xfrm>
            <a:off x="274320" y="190195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0" name="Text 8"/>
          <p:cNvSpPr/>
          <p:nvPr/>
        </p:nvSpPr>
        <p:spPr>
          <a:xfrm>
            <a:off x="274320" y="2395728"/>
            <a:ext cx="2011680" cy="640080"/>
          </a:xfrm>
          <a:prstGeom prst="rect">
            <a:avLst/>
          </a:prstGeom>
          <a:noFill/>
          <a:ln/>
        </p:spPr>
        <p:txBody>
          <a:bodyPr wrap="square" lIns="0" tIns="0" rIns="0" bIns="0" rtlCol="0" anchor="ctr"/>
          <a:lstStyle/>
          <a:p>
            <a:pPr marL="0" indent="0" algn="ctr">
              <a:buNone/>
            </a:pPr>
            <a:r>
              <a:rPr lang="en-US" sz="1300" b="1" dirty="0">
                <a:solidFill>
                  <a:srgbClr val="F05133"/>
                </a:solidFill>
                <a:latin typeface="Arial Black" pitchFamily="34" charset="0"/>
                <a:ea typeface="Arial Black" pitchFamily="34" charset="-122"/>
                <a:cs typeface="Arial Black" pitchFamily="34" charset="-120"/>
              </a:rPr>
              <a:t>Working</a:t>
            </a:r>
            <a:endParaRPr lang="en-US" sz="1300" dirty="0"/>
          </a:p>
          <a:p>
            <a:pPr marL="0" indent="0" algn="ctr">
              <a:buNone/>
            </a:pPr>
            <a:r>
              <a:rPr lang="en-US" sz="1300" b="1" dirty="0">
                <a:solidFill>
                  <a:srgbClr val="F05133"/>
                </a:solidFill>
                <a:latin typeface="Arial Black" pitchFamily="34" charset="0"/>
                <a:ea typeface="Arial Black" pitchFamily="34" charset="-122"/>
                <a:cs typeface="Arial Black" pitchFamily="34" charset="-120"/>
              </a:rPr>
              <a:t>Directory</a:t>
            </a:r>
            <a:endParaRPr lang="en-US" sz="1300" dirty="0"/>
          </a:p>
        </p:txBody>
      </p:sp>
      <p:sp>
        <p:nvSpPr>
          <p:cNvPr id="11" name="Text 9"/>
          <p:cNvSpPr/>
          <p:nvPr/>
        </p:nvSpPr>
        <p:spPr>
          <a:xfrm>
            <a:off x="365760" y="3035808"/>
            <a:ext cx="1828800" cy="105156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Tu modifies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tes fichiers</a:t>
            </a:r>
            <a:endParaRPr lang="en-US" sz="1100" dirty="0"/>
          </a:p>
        </p:txBody>
      </p:sp>
      <p:sp>
        <p:nvSpPr>
          <p:cNvPr id="12" name="Shape 10"/>
          <p:cNvSpPr/>
          <p:nvPr/>
        </p:nvSpPr>
        <p:spPr>
          <a:xfrm>
            <a:off x="2286000" y="2560320"/>
            <a:ext cx="164592" cy="54864"/>
          </a:xfrm>
          <a:prstGeom prst="rect">
            <a:avLst/>
          </a:prstGeom>
          <a:solidFill>
            <a:srgbClr val="8B949E"/>
          </a:solidFill>
          <a:ln w="12700">
            <a:solidFill>
              <a:srgbClr val="8B949E"/>
            </a:solidFill>
            <a:prstDash val="solid"/>
          </a:ln>
        </p:spPr>
      </p:sp>
      <p:sp>
        <p:nvSpPr>
          <p:cNvPr id="13" name="Text 11"/>
          <p:cNvSpPr/>
          <p:nvPr/>
        </p:nvSpPr>
        <p:spPr>
          <a:xfrm>
            <a:off x="2331720" y="2487168"/>
            <a:ext cx="118872" cy="201168"/>
          </a:xfrm>
          <a:prstGeom prst="rect">
            <a:avLst/>
          </a:prstGeom>
          <a:noFill/>
          <a:ln/>
        </p:spPr>
        <p:txBody>
          <a:bodyPr wrap="square" lIns="0" tIns="0" rIns="0" bIns="0" rtlCol="0" anchor="ctr"/>
          <a:lstStyle/>
          <a:p>
            <a:pPr marL="0" indent="0" algn="ctr">
              <a:buNone/>
            </a:pPr>
            <a:r>
              <a:rPr lang="en-US" sz="1000" dirty="0">
                <a:solidFill>
                  <a:srgbClr val="8B949E"/>
                </a:solidFill>
              </a:rPr>
              <a:t>▶</a:t>
            </a:r>
            <a:endParaRPr lang="en-US" sz="1000" dirty="0"/>
          </a:p>
        </p:txBody>
      </p:sp>
      <p:sp>
        <p:nvSpPr>
          <p:cNvPr id="14" name="Shape 12"/>
          <p:cNvSpPr/>
          <p:nvPr/>
        </p:nvSpPr>
        <p:spPr>
          <a:xfrm>
            <a:off x="2450592" y="1005840"/>
            <a:ext cx="2011680" cy="3200400"/>
          </a:xfrm>
          <a:prstGeom prst="rect">
            <a:avLst/>
          </a:prstGeom>
          <a:solidFill>
            <a:srgbClr val="161B22"/>
          </a:solidFill>
          <a:ln w="12700">
            <a:solidFill>
              <a:srgbClr val="58A6FF"/>
            </a:solidFill>
            <a:prstDash val="solid"/>
          </a:ln>
          <a:effectLst>
            <a:outerShdw blurRad="101600" dist="38100" dir="8100000" algn="bl" rotWithShape="0">
              <a:srgbClr val="000000">
                <a:alpha val="30000"/>
              </a:srgbClr>
            </a:outerShdw>
          </a:effectLst>
        </p:spPr>
      </p:sp>
      <p:sp>
        <p:nvSpPr>
          <p:cNvPr id="15" name="Shape 13"/>
          <p:cNvSpPr/>
          <p:nvPr/>
        </p:nvSpPr>
        <p:spPr>
          <a:xfrm>
            <a:off x="2450592" y="1005840"/>
            <a:ext cx="2011680" cy="64008"/>
          </a:xfrm>
          <a:prstGeom prst="rect">
            <a:avLst/>
          </a:prstGeom>
          <a:solidFill>
            <a:srgbClr val="58A6FF"/>
          </a:solidFill>
          <a:ln w="12700">
            <a:solidFill>
              <a:srgbClr val="58A6FF"/>
            </a:solidFill>
            <a:prstDash val="solid"/>
          </a:ln>
        </p:spPr>
      </p:sp>
      <p:sp>
        <p:nvSpPr>
          <p:cNvPr id="16" name="Shape 14"/>
          <p:cNvSpPr/>
          <p:nvPr/>
        </p:nvSpPr>
        <p:spPr>
          <a:xfrm>
            <a:off x="3136392" y="1170432"/>
            <a:ext cx="640080" cy="640080"/>
          </a:xfrm>
          <a:prstGeom prst="ellipse">
            <a:avLst/>
          </a:prstGeom>
          <a:solidFill>
            <a:srgbClr val="58A6FF"/>
          </a:solidFill>
          <a:ln w="12700">
            <a:solidFill>
              <a:srgbClr val="58A6FF"/>
            </a:solidFill>
            <a:prstDash val="solid"/>
          </a:ln>
        </p:spPr>
      </p:sp>
      <p:sp>
        <p:nvSpPr>
          <p:cNvPr id="17" name="Text 15"/>
          <p:cNvSpPr/>
          <p:nvPr/>
        </p:nvSpPr>
        <p:spPr>
          <a:xfrm>
            <a:off x="3136392" y="117043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2</a:t>
            </a:r>
            <a:endParaRPr lang="en-US" sz="1800" dirty="0"/>
          </a:p>
        </p:txBody>
      </p:sp>
      <p:sp>
        <p:nvSpPr>
          <p:cNvPr id="18" name="Text 16"/>
          <p:cNvSpPr/>
          <p:nvPr/>
        </p:nvSpPr>
        <p:spPr>
          <a:xfrm>
            <a:off x="2450592" y="190195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2450592" y="2395728"/>
            <a:ext cx="2011680" cy="640080"/>
          </a:xfrm>
          <a:prstGeom prst="rect">
            <a:avLst/>
          </a:prstGeom>
          <a:noFill/>
          <a:ln/>
        </p:spPr>
        <p:txBody>
          <a:bodyPr wrap="square" lIns="0" tIns="0" rIns="0" bIns="0" rtlCol="0" anchor="ctr"/>
          <a:lstStyle/>
          <a:p>
            <a:pPr marL="0" indent="0" algn="ctr">
              <a:buNone/>
            </a:pPr>
            <a:r>
              <a:rPr lang="en-US" sz="1300" b="1" dirty="0">
                <a:solidFill>
                  <a:srgbClr val="58A6FF"/>
                </a:solidFill>
                <a:latin typeface="Arial Black" pitchFamily="34" charset="0"/>
                <a:ea typeface="Arial Black" pitchFamily="34" charset="-122"/>
                <a:cs typeface="Arial Black" pitchFamily="34" charset="-120"/>
              </a:rPr>
              <a:t>Staging</a:t>
            </a:r>
            <a:endParaRPr lang="en-US" sz="1300" dirty="0"/>
          </a:p>
          <a:p>
            <a:pPr marL="0" indent="0" algn="ctr">
              <a:buNone/>
            </a:pPr>
            <a:r>
              <a:rPr lang="en-US" sz="1300" b="1" dirty="0">
                <a:solidFill>
                  <a:srgbClr val="58A6FF"/>
                </a:solidFill>
                <a:latin typeface="Arial Black" pitchFamily="34" charset="0"/>
                <a:ea typeface="Arial Black" pitchFamily="34" charset="-122"/>
                <a:cs typeface="Arial Black" pitchFamily="34" charset="-120"/>
              </a:rPr>
              <a:t>Area</a:t>
            </a:r>
            <a:endParaRPr lang="en-US" sz="1300" dirty="0"/>
          </a:p>
        </p:txBody>
      </p:sp>
      <p:sp>
        <p:nvSpPr>
          <p:cNvPr id="20" name="Text 18"/>
          <p:cNvSpPr/>
          <p:nvPr/>
        </p:nvSpPr>
        <p:spPr>
          <a:xfrm>
            <a:off x="2542032" y="3035808"/>
            <a:ext cx="1828800" cy="105156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git add</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Sélection des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changements</a:t>
            </a:r>
            <a:endParaRPr lang="en-US" sz="1100" dirty="0"/>
          </a:p>
        </p:txBody>
      </p:sp>
      <p:sp>
        <p:nvSpPr>
          <p:cNvPr id="21" name="Shape 19"/>
          <p:cNvSpPr/>
          <p:nvPr/>
        </p:nvSpPr>
        <p:spPr>
          <a:xfrm>
            <a:off x="4462272" y="2560320"/>
            <a:ext cx="164592" cy="54864"/>
          </a:xfrm>
          <a:prstGeom prst="rect">
            <a:avLst/>
          </a:prstGeom>
          <a:solidFill>
            <a:srgbClr val="8B949E"/>
          </a:solidFill>
          <a:ln w="12700">
            <a:solidFill>
              <a:srgbClr val="8B949E"/>
            </a:solidFill>
            <a:prstDash val="solid"/>
          </a:ln>
        </p:spPr>
      </p:sp>
      <p:sp>
        <p:nvSpPr>
          <p:cNvPr id="22" name="Text 20"/>
          <p:cNvSpPr/>
          <p:nvPr/>
        </p:nvSpPr>
        <p:spPr>
          <a:xfrm>
            <a:off x="4507992" y="2487168"/>
            <a:ext cx="118872" cy="201168"/>
          </a:xfrm>
          <a:prstGeom prst="rect">
            <a:avLst/>
          </a:prstGeom>
          <a:noFill/>
          <a:ln/>
        </p:spPr>
        <p:txBody>
          <a:bodyPr wrap="square" lIns="0" tIns="0" rIns="0" bIns="0" rtlCol="0" anchor="ctr"/>
          <a:lstStyle/>
          <a:p>
            <a:pPr marL="0" indent="0" algn="ctr">
              <a:buNone/>
            </a:pPr>
            <a:r>
              <a:rPr lang="en-US" sz="1000" dirty="0">
                <a:solidFill>
                  <a:srgbClr val="8B949E"/>
                </a:solidFill>
              </a:rPr>
              <a:t>▶</a:t>
            </a:r>
            <a:endParaRPr lang="en-US" sz="1000" dirty="0"/>
          </a:p>
        </p:txBody>
      </p:sp>
      <p:sp>
        <p:nvSpPr>
          <p:cNvPr id="23" name="Shape 21"/>
          <p:cNvSpPr/>
          <p:nvPr/>
        </p:nvSpPr>
        <p:spPr>
          <a:xfrm>
            <a:off x="4626864" y="1005840"/>
            <a:ext cx="2011680" cy="3200400"/>
          </a:xfrm>
          <a:prstGeom prst="rect">
            <a:avLst/>
          </a:prstGeom>
          <a:solidFill>
            <a:srgbClr val="161B22"/>
          </a:solidFill>
          <a:ln w="12700">
            <a:solidFill>
              <a:srgbClr val="3FB950"/>
            </a:solidFill>
            <a:prstDash val="solid"/>
          </a:ln>
          <a:effectLst>
            <a:outerShdw blurRad="101600" dist="38100" dir="8100000" algn="bl" rotWithShape="0">
              <a:srgbClr val="000000">
                <a:alpha val="30000"/>
              </a:srgbClr>
            </a:outerShdw>
          </a:effectLst>
        </p:spPr>
      </p:sp>
      <p:sp>
        <p:nvSpPr>
          <p:cNvPr id="24" name="Shape 22"/>
          <p:cNvSpPr/>
          <p:nvPr/>
        </p:nvSpPr>
        <p:spPr>
          <a:xfrm>
            <a:off x="4626864" y="1005840"/>
            <a:ext cx="2011680" cy="64008"/>
          </a:xfrm>
          <a:prstGeom prst="rect">
            <a:avLst/>
          </a:prstGeom>
          <a:solidFill>
            <a:srgbClr val="3FB950"/>
          </a:solidFill>
          <a:ln w="12700">
            <a:solidFill>
              <a:srgbClr val="3FB950"/>
            </a:solidFill>
            <a:prstDash val="solid"/>
          </a:ln>
        </p:spPr>
      </p:sp>
      <p:sp>
        <p:nvSpPr>
          <p:cNvPr id="25" name="Shape 23"/>
          <p:cNvSpPr/>
          <p:nvPr/>
        </p:nvSpPr>
        <p:spPr>
          <a:xfrm>
            <a:off x="5312664" y="1170432"/>
            <a:ext cx="640080" cy="640080"/>
          </a:xfrm>
          <a:prstGeom prst="ellipse">
            <a:avLst/>
          </a:prstGeom>
          <a:solidFill>
            <a:srgbClr val="3FB950"/>
          </a:solidFill>
          <a:ln w="12700">
            <a:solidFill>
              <a:srgbClr val="3FB950"/>
            </a:solidFill>
            <a:prstDash val="solid"/>
          </a:ln>
        </p:spPr>
      </p:sp>
      <p:sp>
        <p:nvSpPr>
          <p:cNvPr id="26" name="Text 24"/>
          <p:cNvSpPr/>
          <p:nvPr/>
        </p:nvSpPr>
        <p:spPr>
          <a:xfrm>
            <a:off x="5312664" y="117043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27" name="Text 25"/>
          <p:cNvSpPr/>
          <p:nvPr/>
        </p:nvSpPr>
        <p:spPr>
          <a:xfrm>
            <a:off x="4626864" y="190195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8" name="Text 26"/>
          <p:cNvSpPr/>
          <p:nvPr/>
        </p:nvSpPr>
        <p:spPr>
          <a:xfrm>
            <a:off x="4626864" y="2395728"/>
            <a:ext cx="2011680" cy="640080"/>
          </a:xfrm>
          <a:prstGeom prst="rect">
            <a:avLst/>
          </a:prstGeom>
          <a:noFill/>
          <a:ln/>
        </p:spPr>
        <p:txBody>
          <a:bodyPr wrap="square" lIns="0" tIns="0" rIns="0" bIns="0" rtlCol="0" anchor="ctr"/>
          <a:lstStyle/>
          <a:p>
            <a:pPr marL="0" indent="0" algn="ctr">
              <a:buNone/>
            </a:pPr>
            <a:r>
              <a:rPr lang="en-US" sz="1300" b="1" dirty="0">
                <a:solidFill>
                  <a:srgbClr val="3FB950"/>
                </a:solidFill>
                <a:latin typeface="Arial Black" pitchFamily="34" charset="0"/>
                <a:ea typeface="Arial Black" pitchFamily="34" charset="-122"/>
                <a:cs typeface="Arial Black" pitchFamily="34" charset="-120"/>
              </a:rPr>
              <a:t>Local</a:t>
            </a:r>
            <a:endParaRPr lang="en-US" sz="1300" dirty="0"/>
          </a:p>
          <a:p>
            <a:pPr marL="0" indent="0" algn="ctr">
              <a:buNone/>
            </a:pPr>
            <a:r>
              <a:rPr lang="en-US" sz="1300" b="1" dirty="0">
                <a:solidFill>
                  <a:srgbClr val="3FB950"/>
                </a:solidFill>
                <a:latin typeface="Arial Black" pitchFamily="34" charset="0"/>
                <a:ea typeface="Arial Black" pitchFamily="34" charset="-122"/>
                <a:cs typeface="Arial Black" pitchFamily="34" charset="-120"/>
              </a:rPr>
              <a:t>Repository</a:t>
            </a:r>
            <a:endParaRPr lang="en-US" sz="1300" dirty="0"/>
          </a:p>
        </p:txBody>
      </p:sp>
      <p:sp>
        <p:nvSpPr>
          <p:cNvPr id="29" name="Text 27"/>
          <p:cNvSpPr/>
          <p:nvPr/>
        </p:nvSpPr>
        <p:spPr>
          <a:xfrm>
            <a:off x="4718304" y="3035808"/>
            <a:ext cx="1828800" cy="105156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git commit</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Enregistrement</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local</a:t>
            </a:r>
            <a:endParaRPr lang="en-US" sz="1100" dirty="0"/>
          </a:p>
        </p:txBody>
      </p:sp>
      <p:sp>
        <p:nvSpPr>
          <p:cNvPr id="30" name="Shape 28"/>
          <p:cNvSpPr/>
          <p:nvPr/>
        </p:nvSpPr>
        <p:spPr>
          <a:xfrm>
            <a:off x="6638544" y="2560320"/>
            <a:ext cx="164592" cy="54864"/>
          </a:xfrm>
          <a:prstGeom prst="rect">
            <a:avLst/>
          </a:prstGeom>
          <a:solidFill>
            <a:srgbClr val="8B949E"/>
          </a:solidFill>
          <a:ln w="12700">
            <a:solidFill>
              <a:srgbClr val="8B949E"/>
            </a:solidFill>
            <a:prstDash val="solid"/>
          </a:ln>
        </p:spPr>
      </p:sp>
      <p:sp>
        <p:nvSpPr>
          <p:cNvPr id="31" name="Text 29"/>
          <p:cNvSpPr/>
          <p:nvPr/>
        </p:nvSpPr>
        <p:spPr>
          <a:xfrm>
            <a:off x="6684264" y="2487168"/>
            <a:ext cx="118872" cy="201168"/>
          </a:xfrm>
          <a:prstGeom prst="rect">
            <a:avLst/>
          </a:prstGeom>
          <a:noFill/>
          <a:ln/>
        </p:spPr>
        <p:txBody>
          <a:bodyPr wrap="square" lIns="0" tIns="0" rIns="0" bIns="0" rtlCol="0" anchor="ctr"/>
          <a:lstStyle/>
          <a:p>
            <a:pPr marL="0" indent="0" algn="ctr">
              <a:buNone/>
            </a:pPr>
            <a:r>
              <a:rPr lang="en-US" sz="1000" dirty="0">
                <a:solidFill>
                  <a:srgbClr val="8B949E"/>
                </a:solidFill>
              </a:rPr>
              <a:t>▶</a:t>
            </a:r>
            <a:endParaRPr lang="en-US" sz="1000" dirty="0"/>
          </a:p>
        </p:txBody>
      </p:sp>
      <p:sp>
        <p:nvSpPr>
          <p:cNvPr id="32" name="Shape 30"/>
          <p:cNvSpPr/>
          <p:nvPr/>
        </p:nvSpPr>
        <p:spPr>
          <a:xfrm>
            <a:off x="6803136" y="1005840"/>
            <a:ext cx="2011680" cy="3200400"/>
          </a:xfrm>
          <a:prstGeom prst="rect">
            <a:avLst/>
          </a:prstGeom>
          <a:solidFill>
            <a:srgbClr val="161B22"/>
          </a:solidFill>
          <a:ln w="12700">
            <a:solidFill>
              <a:srgbClr val="BC8CFF"/>
            </a:solidFill>
            <a:prstDash val="solid"/>
          </a:ln>
          <a:effectLst>
            <a:outerShdw blurRad="101600" dist="38100" dir="8100000" algn="bl" rotWithShape="0">
              <a:srgbClr val="000000">
                <a:alpha val="30000"/>
              </a:srgbClr>
            </a:outerShdw>
          </a:effectLst>
        </p:spPr>
      </p:sp>
      <p:sp>
        <p:nvSpPr>
          <p:cNvPr id="33" name="Shape 31"/>
          <p:cNvSpPr/>
          <p:nvPr/>
        </p:nvSpPr>
        <p:spPr>
          <a:xfrm>
            <a:off x="6803136" y="1005840"/>
            <a:ext cx="2011680" cy="64008"/>
          </a:xfrm>
          <a:prstGeom prst="rect">
            <a:avLst/>
          </a:prstGeom>
          <a:solidFill>
            <a:srgbClr val="BC8CFF"/>
          </a:solidFill>
          <a:ln w="12700">
            <a:solidFill>
              <a:srgbClr val="BC8CFF"/>
            </a:solidFill>
            <a:prstDash val="solid"/>
          </a:ln>
        </p:spPr>
      </p:sp>
      <p:sp>
        <p:nvSpPr>
          <p:cNvPr id="34" name="Shape 32"/>
          <p:cNvSpPr/>
          <p:nvPr/>
        </p:nvSpPr>
        <p:spPr>
          <a:xfrm>
            <a:off x="7488936" y="1170432"/>
            <a:ext cx="640080" cy="640080"/>
          </a:xfrm>
          <a:prstGeom prst="ellipse">
            <a:avLst/>
          </a:prstGeom>
          <a:solidFill>
            <a:srgbClr val="BC8CFF"/>
          </a:solidFill>
          <a:ln w="12700">
            <a:solidFill>
              <a:srgbClr val="BC8CFF"/>
            </a:solidFill>
            <a:prstDash val="solid"/>
          </a:ln>
        </p:spPr>
      </p:sp>
      <p:sp>
        <p:nvSpPr>
          <p:cNvPr id="35" name="Text 33"/>
          <p:cNvSpPr/>
          <p:nvPr/>
        </p:nvSpPr>
        <p:spPr>
          <a:xfrm>
            <a:off x="7488936" y="117043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36" name="Text 34"/>
          <p:cNvSpPr/>
          <p:nvPr/>
        </p:nvSpPr>
        <p:spPr>
          <a:xfrm>
            <a:off x="6803136" y="1901952"/>
            <a:ext cx="2011680" cy="50292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37" name="Text 35"/>
          <p:cNvSpPr/>
          <p:nvPr/>
        </p:nvSpPr>
        <p:spPr>
          <a:xfrm>
            <a:off x="6803136" y="2395728"/>
            <a:ext cx="2011680" cy="640080"/>
          </a:xfrm>
          <a:prstGeom prst="rect">
            <a:avLst/>
          </a:prstGeom>
          <a:noFill/>
          <a:ln/>
        </p:spPr>
        <p:txBody>
          <a:bodyPr wrap="square" lIns="0" tIns="0" rIns="0" bIns="0" rtlCol="0" anchor="ctr"/>
          <a:lstStyle/>
          <a:p>
            <a:pPr marL="0" indent="0" algn="ctr">
              <a:buNone/>
            </a:pPr>
            <a:r>
              <a:rPr lang="en-US" sz="1300" b="1" dirty="0">
                <a:solidFill>
                  <a:srgbClr val="BC8CFF"/>
                </a:solidFill>
                <a:latin typeface="Arial Black" pitchFamily="34" charset="0"/>
                <a:ea typeface="Arial Black" pitchFamily="34" charset="-122"/>
                <a:cs typeface="Arial Black" pitchFamily="34" charset="-120"/>
              </a:rPr>
              <a:t>Remote</a:t>
            </a:r>
            <a:endParaRPr lang="en-US" sz="1300" dirty="0"/>
          </a:p>
          <a:p>
            <a:pPr marL="0" indent="0" algn="ctr">
              <a:buNone/>
            </a:pPr>
            <a:r>
              <a:rPr lang="en-US" sz="1300" b="1" dirty="0">
                <a:solidFill>
                  <a:srgbClr val="BC8CFF"/>
                </a:solidFill>
                <a:latin typeface="Arial Black" pitchFamily="34" charset="0"/>
                <a:ea typeface="Arial Black" pitchFamily="34" charset="-122"/>
                <a:cs typeface="Arial Black" pitchFamily="34" charset="-120"/>
              </a:rPr>
              <a:t>Repository</a:t>
            </a:r>
            <a:endParaRPr lang="en-US" sz="1300" dirty="0"/>
          </a:p>
        </p:txBody>
      </p:sp>
      <p:sp>
        <p:nvSpPr>
          <p:cNvPr id="38" name="Text 36"/>
          <p:cNvSpPr/>
          <p:nvPr/>
        </p:nvSpPr>
        <p:spPr>
          <a:xfrm>
            <a:off x="6894576" y="3035808"/>
            <a:ext cx="1828800" cy="1051560"/>
          </a:xfrm>
          <a:prstGeom prst="rect">
            <a:avLst/>
          </a:prstGeom>
          <a:noFill/>
          <a:ln/>
        </p:spPr>
        <p:txBody>
          <a:bodyPr wrap="square" lIns="0" tIns="0" rIns="0" bIns="0" rtlCol="0" anchor="ctr"/>
          <a:lstStyle/>
          <a:p>
            <a:pPr marL="0" indent="0" algn="ctr">
              <a:buNone/>
            </a:pPr>
            <a:r>
              <a:rPr lang="en-US" sz="1100" dirty="0">
                <a:solidFill>
                  <a:srgbClr val="E6EDF3"/>
                </a:solidFill>
                <a:latin typeface="Calibri" pitchFamily="34" charset="0"/>
                <a:ea typeface="Calibri" pitchFamily="34" charset="-122"/>
                <a:cs typeface="Calibri" pitchFamily="34" charset="-120"/>
              </a:rPr>
              <a:t>git push</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Envoi vers</a:t>
            </a:r>
            <a:endParaRPr lang="en-US" sz="1100" dirty="0"/>
          </a:p>
          <a:p>
            <a:pPr marL="0" indent="0" algn="ctr">
              <a:buNone/>
            </a:pPr>
            <a:r>
              <a:rPr lang="en-US" sz="1100" dirty="0">
                <a:solidFill>
                  <a:srgbClr val="E6EDF3"/>
                </a:solidFill>
                <a:latin typeface="Calibri" pitchFamily="34" charset="0"/>
                <a:ea typeface="Calibri" pitchFamily="34" charset="-122"/>
                <a:cs typeface="Calibri" pitchFamily="34" charset="-120"/>
              </a:rPr>
              <a:t>GitHub</a:t>
            </a:r>
            <a:endParaRPr lang="en-US" sz="1100" dirty="0"/>
          </a:p>
        </p:txBody>
      </p:sp>
      <p:sp>
        <p:nvSpPr>
          <p:cNvPr id="39" name="Shape 37"/>
          <p:cNvSpPr/>
          <p:nvPr/>
        </p:nvSpPr>
        <p:spPr>
          <a:xfrm>
            <a:off x="0" y="4800600"/>
            <a:ext cx="9144000" cy="342900"/>
          </a:xfrm>
          <a:prstGeom prst="rect">
            <a:avLst/>
          </a:prstGeom>
          <a:solidFill>
            <a:srgbClr val="161B22"/>
          </a:solidFill>
          <a:ln w="12700">
            <a:solidFill>
              <a:srgbClr val="161B22"/>
            </a:solidFill>
            <a:prstDash val="solid"/>
          </a:ln>
        </p:spPr>
      </p:sp>
      <p:sp>
        <p:nvSpPr>
          <p:cNvPr id="40" name="Text 38"/>
          <p:cNvSpPr/>
          <p:nvPr/>
        </p:nvSpPr>
        <p:spPr>
          <a:xfrm>
            <a:off x="365760" y="4846320"/>
            <a:ext cx="8412480" cy="256032"/>
          </a:xfrm>
          <a:prstGeom prst="rect">
            <a:avLst/>
          </a:prstGeom>
          <a:noFill/>
          <a:ln/>
        </p:spPr>
        <p:txBody>
          <a:bodyPr wrap="square" lIns="0" tIns="0" rIns="0" bIns="0" rtlCol="0" anchor="ctr"/>
          <a:lstStyle/>
          <a:p>
            <a:pPr marL="0" indent="0" algn="ctr">
              <a:buNone/>
            </a:pPr>
            <a:r>
              <a:rPr lang="en-US" sz="1200" b="1" dirty="0">
                <a:solidFill>
                  <a:srgbClr val="3FB950"/>
                </a:solidFill>
                <a:latin typeface="Calibri" pitchFamily="34" charset="0"/>
                <a:ea typeface="Calibri" pitchFamily="34" charset="-122"/>
                <a:cs typeface="Calibri" pitchFamily="34" charset="-120"/>
              </a:rPr>
              <a:t>💡  Pour récupérer les changements du serveur :  git pull  (l'inverse du push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BC8CFF"/>
          </a:solidFill>
          <a:ln w="12700">
            <a:solidFill>
              <a:srgbClr val="BC8CFF"/>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 GitHub : La Plateforme de Collaboration</a:t>
            </a:r>
            <a:endParaRPr lang="en-US" sz="2600" dirty="0"/>
          </a:p>
        </p:txBody>
      </p:sp>
      <p:sp>
        <p:nvSpPr>
          <p:cNvPr id="4" name="Shape 2"/>
          <p:cNvSpPr/>
          <p:nvPr/>
        </p:nvSpPr>
        <p:spPr>
          <a:xfrm>
            <a:off x="3794760" y="804672"/>
            <a:ext cx="1554480" cy="1554480"/>
          </a:xfrm>
          <a:prstGeom prst="ellipse">
            <a:avLst/>
          </a:prstGeom>
          <a:solidFill>
            <a:srgbClr val="FFFFFF"/>
          </a:solidFill>
          <a:ln w="12700">
            <a:solidFill>
              <a:srgbClr val="FFFFFF"/>
            </a:solidFill>
            <a:prstDash val="solid"/>
          </a:ln>
          <a:effectLst>
            <a:outerShdw blurRad="101600" dist="38100" dir="8100000" algn="bl" rotWithShape="0">
              <a:srgbClr val="000000">
                <a:alpha val="30000"/>
              </a:srgbClr>
            </a:outerShdw>
          </a:effectLst>
        </p:spPr>
      </p:sp>
      <p:pic>
        <p:nvPicPr>
          <p:cNvPr id="5" name="Image 0" descr="preencoded.png"/>
          <p:cNvPicPr>
            <a:picLocks noChangeAspect="1"/>
          </p:cNvPicPr>
          <p:nvPr/>
        </p:nvPicPr>
        <p:blipFill>
          <a:blip r:embed="rId3"/>
          <a:stretch>
            <a:fillRect/>
          </a:stretch>
        </p:blipFill>
        <p:spPr>
          <a:xfrm>
            <a:off x="3886200" y="896112"/>
            <a:ext cx="1371600" cy="1371600"/>
          </a:xfrm>
          <a:prstGeom prst="rect">
            <a:avLst/>
          </a:prstGeom>
        </p:spPr>
      </p:pic>
      <p:sp>
        <p:nvSpPr>
          <p:cNvPr id="6" name="Text 3"/>
          <p:cNvSpPr/>
          <p:nvPr/>
        </p:nvSpPr>
        <p:spPr>
          <a:xfrm>
            <a:off x="365760" y="2487168"/>
            <a:ext cx="8412480" cy="347472"/>
          </a:xfrm>
          <a:prstGeom prst="rect">
            <a:avLst/>
          </a:prstGeom>
          <a:noFill/>
          <a:ln/>
        </p:spPr>
        <p:txBody>
          <a:bodyPr wrap="square" lIns="0" tIns="0" rIns="0" bIns="0" rtlCol="0" anchor="ctr"/>
          <a:lstStyle/>
          <a:p>
            <a:pPr marL="0" indent="0" algn="ctr">
              <a:buNone/>
            </a:pPr>
            <a:r>
              <a:rPr lang="en-US" sz="1600" b="1" dirty="0">
                <a:solidFill>
                  <a:srgbClr val="58A6FF"/>
                </a:solidFill>
                <a:latin typeface="Consolas" pitchFamily="34" charset="0"/>
                <a:ea typeface="Consolas" pitchFamily="34" charset="-122"/>
                <a:cs typeface="Consolas" pitchFamily="34" charset="-120"/>
              </a:rPr>
              <a:t>github.com</a:t>
            </a:r>
            <a:endParaRPr lang="en-US" sz="1600" dirty="0"/>
          </a:p>
        </p:txBody>
      </p:sp>
      <p:sp>
        <p:nvSpPr>
          <p:cNvPr id="7" name="Shape 4"/>
          <p:cNvSpPr/>
          <p:nvPr/>
        </p:nvSpPr>
        <p:spPr>
          <a:xfrm>
            <a:off x="365760" y="292608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8" name="Text 5"/>
          <p:cNvSpPr/>
          <p:nvPr/>
        </p:nvSpPr>
        <p:spPr>
          <a:xfrm>
            <a:off x="365760" y="299008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9" name="Text 6"/>
          <p:cNvSpPr/>
          <p:nvPr/>
        </p:nvSpPr>
        <p:spPr>
          <a:xfrm>
            <a:off x="914400" y="299008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Hébergement Cloud</a:t>
            </a:r>
            <a:endParaRPr lang="en-US" sz="1150" dirty="0"/>
          </a:p>
        </p:txBody>
      </p:sp>
      <p:sp>
        <p:nvSpPr>
          <p:cNvPr id="10" name="Text 7"/>
          <p:cNvSpPr/>
          <p:nvPr/>
        </p:nvSpPr>
        <p:spPr>
          <a:xfrm>
            <a:off x="914400" y="326440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Stocke tes dépôts Git en ligne, accessibles partout dans le monde</a:t>
            </a:r>
            <a:endParaRPr lang="en-US" sz="950" dirty="0"/>
          </a:p>
        </p:txBody>
      </p:sp>
      <p:sp>
        <p:nvSpPr>
          <p:cNvPr id="11" name="Shape 8"/>
          <p:cNvSpPr/>
          <p:nvPr/>
        </p:nvSpPr>
        <p:spPr>
          <a:xfrm>
            <a:off x="3200400" y="292608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2" name="Text 9"/>
          <p:cNvSpPr/>
          <p:nvPr/>
        </p:nvSpPr>
        <p:spPr>
          <a:xfrm>
            <a:off x="3200400" y="299008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3" name="Text 10"/>
          <p:cNvSpPr/>
          <p:nvPr/>
        </p:nvSpPr>
        <p:spPr>
          <a:xfrm>
            <a:off x="3749040" y="299008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Collaboration</a:t>
            </a:r>
            <a:endParaRPr lang="en-US" sz="1150" dirty="0"/>
          </a:p>
        </p:txBody>
      </p:sp>
      <p:sp>
        <p:nvSpPr>
          <p:cNvPr id="14" name="Text 11"/>
          <p:cNvSpPr/>
          <p:nvPr/>
        </p:nvSpPr>
        <p:spPr>
          <a:xfrm>
            <a:off x="3749040" y="326440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Travaille avec des milliers de développeurs sur des projets open source</a:t>
            </a:r>
            <a:endParaRPr lang="en-US" sz="950" dirty="0"/>
          </a:p>
        </p:txBody>
      </p:sp>
      <p:sp>
        <p:nvSpPr>
          <p:cNvPr id="15" name="Shape 12"/>
          <p:cNvSpPr/>
          <p:nvPr/>
        </p:nvSpPr>
        <p:spPr>
          <a:xfrm>
            <a:off x="6035040" y="292608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6" name="Text 13"/>
          <p:cNvSpPr/>
          <p:nvPr/>
        </p:nvSpPr>
        <p:spPr>
          <a:xfrm>
            <a:off x="6035040" y="299008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17" name="Text 14"/>
          <p:cNvSpPr/>
          <p:nvPr/>
        </p:nvSpPr>
        <p:spPr>
          <a:xfrm>
            <a:off x="6583680" y="299008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Issues &amp; Bugs</a:t>
            </a:r>
            <a:endParaRPr lang="en-US" sz="1150" dirty="0"/>
          </a:p>
        </p:txBody>
      </p:sp>
      <p:sp>
        <p:nvSpPr>
          <p:cNvPr id="18" name="Text 15"/>
          <p:cNvSpPr/>
          <p:nvPr/>
        </p:nvSpPr>
        <p:spPr>
          <a:xfrm>
            <a:off x="6583680" y="326440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Système de tickets pour suivre les bugs et les nouvelles fonctionnalités</a:t>
            </a:r>
            <a:endParaRPr lang="en-US" sz="950" dirty="0"/>
          </a:p>
        </p:txBody>
      </p:sp>
      <p:sp>
        <p:nvSpPr>
          <p:cNvPr id="19" name="Shape 16"/>
          <p:cNvSpPr/>
          <p:nvPr/>
        </p:nvSpPr>
        <p:spPr>
          <a:xfrm>
            <a:off x="365760" y="393192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0" name="Text 17"/>
          <p:cNvSpPr/>
          <p:nvPr/>
        </p:nvSpPr>
        <p:spPr>
          <a:xfrm>
            <a:off x="365760" y="399592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1" name="Text 18"/>
          <p:cNvSpPr/>
          <p:nvPr/>
        </p:nvSpPr>
        <p:spPr>
          <a:xfrm>
            <a:off x="914400" y="399592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GitHub Actions</a:t>
            </a:r>
            <a:endParaRPr lang="en-US" sz="1150" dirty="0"/>
          </a:p>
        </p:txBody>
      </p:sp>
      <p:sp>
        <p:nvSpPr>
          <p:cNvPr id="22" name="Text 19"/>
          <p:cNvSpPr/>
          <p:nvPr/>
        </p:nvSpPr>
        <p:spPr>
          <a:xfrm>
            <a:off x="914400" y="427024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Automatise tes tests, déploiements et workflows CI/CD facilement</a:t>
            </a:r>
            <a:endParaRPr lang="en-US" sz="950" dirty="0"/>
          </a:p>
        </p:txBody>
      </p:sp>
      <p:sp>
        <p:nvSpPr>
          <p:cNvPr id="23" name="Shape 20"/>
          <p:cNvSpPr/>
          <p:nvPr/>
        </p:nvSpPr>
        <p:spPr>
          <a:xfrm>
            <a:off x="3200400" y="393192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4" name="Text 21"/>
          <p:cNvSpPr/>
          <p:nvPr/>
        </p:nvSpPr>
        <p:spPr>
          <a:xfrm>
            <a:off x="3200400" y="399592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5" name="Text 22"/>
          <p:cNvSpPr/>
          <p:nvPr/>
        </p:nvSpPr>
        <p:spPr>
          <a:xfrm>
            <a:off x="3749040" y="399592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Code Review</a:t>
            </a:r>
            <a:endParaRPr lang="en-US" sz="1150" dirty="0"/>
          </a:p>
        </p:txBody>
      </p:sp>
      <p:sp>
        <p:nvSpPr>
          <p:cNvPr id="26" name="Text 23"/>
          <p:cNvSpPr/>
          <p:nvPr/>
        </p:nvSpPr>
        <p:spPr>
          <a:xfrm>
            <a:off x="3749040" y="427024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Révise le code de tes collègues via les Pull Requests et commentaires</a:t>
            </a:r>
            <a:endParaRPr lang="en-US" sz="950" dirty="0"/>
          </a:p>
        </p:txBody>
      </p:sp>
      <p:sp>
        <p:nvSpPr>
          <p:cNvPr id="27" name="Shape 24"/>
          <p:cNvSpPr/>
          <p:nvPr/>
        </p:nvSpPr>
        <p:spPr>
          <a:xfrm>
            <a:off x="6035040" y="3931920"/>
            <a:ext cx="269748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8" name="Text 25"/>
          <p:cNvSpPr/>
          <p:nvPr/>
        </p:nvSpPr>
        <p:spPr>
          <a:xfrm>
            <a:off x="6035040" y="3995928"/>
            <a:ext cx="594360" cy="384048"/>
          </a:xfrm>
          <a:prstGeom prst="rect">
            <a:avLst/>
          </a:prstGeom>
          <a:noFill/>
          <a:ln/>
        </p:spPr>
        <p:txBody>
          <a:bodyPr wrap="square" lIns="0" tIns="0" rIns="0" bIns="0" rtlCol="0" anchor="ctr"/>
          <a:lstStyle/>
          <a:p>
            <a:pPr marL="0" indent="0" algn="ctr">
              <a:buNone/>
            </a:pPr>
            <a:r>
              <a:rPr lang="en-US" sz="1800" dirty="0">
                <a:solidFill>
                  <a:srgbClr val="000000"/>
                </a:solidFill>
              </a:rPr>
              <a:t>📱</a:t>
            </a:r>
            <a:endParaRPr lang="en-US" sz="1800" dirty="0"/>
          </a:p>
        </p:txBody>
      </p:sp>
      <p:sp>
        <p:nvSpPr>
          <p:cNvPr id="29" name="Text 26"/>
          <p:cNvSpPr/>
          <p:nvPr/>
        </p:nvSpPr>
        <p:spPr>
          <a:xfrm>
            <a:off x="6583680" y="3995928"/>
            <a:ext cx="2084832" cy="274320"/>
          </a:xfrm>
          <a:prstGeom prst="rect">
            <a:avLst/>
          </a:prstGeom>
          <a:noFill/>
          <a:ln/>
        </p:spPr>
        <p:txBody>
          <a:bodyPr wrap="square" lIns="0" tIns="0" rIns="0" bIns="0" rtlCol="0" anchor="ctr"/>
          <a:lstStyle/>
          <a:p>
            <a:pPr marL="0" indent="0">
              <a:buNone/>
            </a:pPr>
            <a:r>
              <a:rPr lang="en-US" sz="1150" b="1" dirty="0">
                <a:solidFill>
                  <a:srgbClr val="BC8CFF"/>
                </a:solidFill>
                <a:latin typeface="Arial Black" pitchFamily="34" charset="0"/>
                <a:ea typeface="Arial Black" pitchFamily="34" charset="-122"/>
                <a:cs typeface="Arial Black" pitchFamily="34" charset="-120"/>
              </a:rPr>
              <a:t>GitHub Pages</a:t>
            </a:r>
            <a:endParaRPr lang="en-US" sz="1150" dirty="0"/>
          </a:p>
        </p:txBody>
      </p:sp>
      <p:sp>
        <p:nvSpPr>
          <p:cNvPr id="30" name="Text 27"/>
          <p:cNvSpPr/>
          <p:nvPr/>
        </p:nvSpPr>
        <p:spPr>
          <a:xfrm>
            <a:off x="6583680" y="4270248"/>
            <a:ext cx="2084832" cy="475488"/>
          </a:xfrm>
          <a:prstGeom prst="rect">
            <a:avLst/>
          </a:prstGeom>
          <a:noFill/>
          <a:ln/>
        </p:spPr>
        <p:txBody>
          <a:bodyPr wrap="square" lIns="0" tIns="0" rIns="0" bIns="0" rtlCol="0" anchor="ctr"/>
          <a:lstStyle/>
          <a:p>
            <a:pPr marL="0" indent="0">
              <a:buNone/>
            </a:pPr>
            <a:r>
              <a:rPr lang="en-US" sz="950" dirty="0">
                <a:solidFill>
                  <a:srgbClr val="E6EDF3"/>
                </a:solidFill>
                <a:latin typeface="Calibri" pitchFamily="34" charset="0"/>
                <a:ea typeface="Calibri" pitchFamily="34" charset="-122"/>
                <a:cs typeface="Calibri" pitchFamily="34" charset="-120"/>
              </a:rPr>
              <a:t>Publie ton site web gratuitement directement depuis ton dépôt GitHub</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B341"/>
          </a:solidFill>
          <a:ln w="12700">
            <a:solidFill>
              <a:srgbClr val="E3B341"/>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2600" b="1" dirty="0">
                <a:solidFill>
                  <a:srgbClr val="FFFFFF"/>
                </a:solidFill>
                <a:latin typeface="Arial Black" pitchFamily="34" charset="0"/>
                <a:ea typeface="Arial Black" pitchFamily="34" charset="-122"/>
                <a:cs typeface="Arial Black" pitchFamily="34" charset="-120"/>
              </a:rPr>
              <a:t>🏗️ Dépôts, Branches &amp; Pull Requests</a:t>
            </a:r>
            <a:endParaRPr lang="en-US" sz="2600" dirty="0"/>
          </a:p>
        </p:txBody>
      </p:sp>
      <p:sp>
        <p:nvSpPr>
          <p:cNvPr id="4" name="Shape 2"/>
          <p:cNvSpPr/>
          <p:nvPr/>
        </p:nvSpPr>
        <p:spPr>
          <a:xfrm>
            <a:off x="365760" y="804672"/>
            <a:ext cx="2560320" cy="4114800"/>
          </a:xfrm>
          <a:prstGeom prst="rect">
            <a:avLst/>
          </a:prstGeom>
          <a:solidFill>
            <a:srgbClr val="161B22"/>
          </a:solidFill>
          <a:ln w="12700">
            <a:solidFill>
              <a:srgbClr val="E3B341"/>
            </a:solidFill>
            <a:prstDash val="solid"/>
          </a:ln>
          <a:effectLst>
            <a:outerShdw blurRad="101600" dist="38100" dir="8100000" algn="bl" rotWithShape="0">
              <a:srgbClr val="000000">
                <a:alpha val="30000"/>
              </a:srgbClr>
            </a:outerShdw>
          </a:effectLst>
        </p:spPr>
      </p:sp>
      <p:sp>
        <p:nvSpPr>
          <p:cNvPr id="5" name="Shape 3"/>
          <p:cNvSpPr/>
          <p:nvPr/>
        </p:nvSpPr>
        <p:spPr>
          <a:xfrm>
            <a:off x="365760" y="804672"/>
            <a:ext cx="2560320" cy="64008"/>
          </a:xfrm>
          <a:prstGeom prst="rect">
            <a:avLst/>
          </a:prstGeom>
          <a:solidFill>
            <a:srgbClr val="E3B341"/>
          </a:solidFill>
          <a:ln w="12700">
            <a:solidFill>
              <a:srgbClr val="E3B341"/>
            </a:solidFill>
            <a:prstDash val="solid"/>
          </a:ln>
        </p:spPr>
      </p:sp>
      <p:sp>
        <p:nvSpPr>
          <p:cNvPr id="6" name="Text 4"/>
          <p:cNvSpPr/>
          <p:nvPr/>
        </p:nvSpPr>
        <p:spPr>
          <a:xfrm>
            <a:off x="457200" y="896112"/>
            <a:ext cx="2377440" cy="320040"/>
          </a:xfrm>
          <a:prstGeom prst="rect">
            <a:avLst/>
          </a:prstGeom>
          <a:noFill/>
          <a:ln/>
        </p:spPr>
        <p:txBody>
          <a:bodyPr wrap="square" lIns="0" tIns="0" rIns="0" bIns="0" rtlCol="0" anchor="ctr"/>
          <a:lstStyle/>
          <a:p>
            <a:pPr marL="0" indent="0">
              <a:buNone/>
            </a:pPr>
            <a:r>
              <a:rPr lang="en-US" sz="1250" b="1" dirty="0">
                <a:solidFill>
                  <a:srgbClr val="E3B341"/>
                </a:solidFill>
                <a:latin typeface="Arial Black" pitchFamily="34" charset="0"/>
                <a:ea typeface="Arial Black" pitchFamily="34" charset="-122"/>
                <a:cs typeface="Arial Black" pitchFamily="34" charset="-120"/>
              </a:rPr>
              <a:t>📁 Dépôt (Repository)</a:t>
            </a:r>
            <a:endParaRPr lang="en-US" sz="1250" dirty="0"/>
          </a:p>
        </p:txBody>
      </p:sp>
      <p:sp>
        <p:nvSpPr>
          <p:cNvPr id="7" name="Text 5"/>
          <p:cNvSpPr/>
          <p:nvPr/>
        </p:nvSpPr>
        <p:spPr>
          <a:xfrm>
            <a:off x="457200" y="1234440"/>
            <a:ext cx="2377440" cy="3657600"/>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Un dépôt est le dossier Git de ton projet. Il contient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Tout l'historique</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Toutes les branches</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Tous les commits</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Public : Visible par tous</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Privé : Accès limité</a:t>
            </a:r>
            <a:endParaRPr lang="en-US" sz="1100" dirty="0"/>
          </a:p>
        </p:txBody>
      </p:sp>
      <p:sp>
        <p:nvSpPr>
          <p:cNvPr id="8" name="Shape 6"/>
          <p:cNvSpPr/>
          <p:nvPr/>
        </p:nvSpPr>
        <p:spPr>
          <a:xfrm>
            <a:off x="3108960" y="804672"/>
            <a:ext cx="2560320" cy="4114800"/>
          </a:xfrm>
          <a:prstGeom prst="rect">
            <a:avLst/>
          </a:prstGeom>
          <a:solidFill>
            <a:srgbClr val="161B22"/>
          </a:solidFill>
          <a:ln w="12700">
            <a:solidFill>
              <a:srgbClr val="3FB950"/>
            </a:solidFill>
            <a:prstDash val="solid"/>
          </a:ln>
          <a:effectLst>
            <a:outerShdw blurRad="101600" dist="38100" dir="8100000" algn="bl" rotWithShape="0">
              <a:srgbClr val="000000">
                <a:alpha val="30000"/>
              </a:srgbClr>
            </a:outerShdw>
          </a:effectLst>
        </p:spPr>
      </p:sp>
      <p:sp>
        <p:nvSpPr>
          <p:cNvPr id="9" name="Shape 7"/>
          <p:cNvSpPr/>
          <p:nvPr/>
        </p:nvSpPr>
        <p:spPr>
          <a:xfrm>
            <a:off x="3108960" y="804672"/>
            <a:ext cx="2560320" cy="64008"/>
          </a:xfrm>
          <a:prstGeom prst="rect">
            <a:avLst/>
          </a:prstGeom>
          <a:solidFill>
            <a:srgbClr val="3FB950"/>
          </a:solidFill>
          <a:ln w="12700">
            <a:solidFill>
              <a:srgbClr val="3FB950"/>
            </a:solidFill>
            <a:prstDash val="solid"/>
          </a:ln>
        </p:spPr>
      </p:sp>
      <p:sp>
        <p:nvSpPr>
          <p:cNvPr id="10" name="Text 8"/>
          <p:cNvSpPr/>
          <p:nvPr/>
        </p:nvSpPr>
        <p:spPr>
          <a:xfrm>
            <a:off x="3200400" y="896112"/>
            <a:ext cx="2377440" cy="320040"/>
          </a:xfrm>
          <a:prstGeom prst="rect">
            <a:avLst/>
          </a:prstGeom>
          <a:noFill/>
          <a:ln/>
        </p:spPr>
        <p:txBody>
          <a:bodyPr wrap="square" lIns="0" tIns="0" rIns="0" bIns="0" rtlCol="0" anchor="ctr"/>
          <a:lstStyle/>
          <a:p>
            <a:pPr marL="0" indent="0">
              <a:buNone/>
            </a:pPr>
            <a:r>
              <a:rPr lang="en-US" sz="1250" b="1" dirty="0">
                <a:solidFill>
                  <a:srgbClr val="3FB950"/>
                </a:solidFill>
                <a:latin typeface="Arial Black" pitchFamily="34" charset="0"/>
                <a:ea typeface="Arial Black" pitchFamily="34" charset="-122"/>
                <a:cs typeface="Arial Black" pitchFamily="34" charset="-120"/>
              </a:rPr>
              <a:t>🌿 Branches</a:t>
            </a:r>
            <a:endParaRPr lang="en-US" sz="1250" dirty="0"/>
          </a:p>
        </p:txBody>
      </p:sp>
      <p:sp>
        <p:nvSpPr>
          <p:cNvPr id="11" name="Text 9"/>
          <p:cNvSpPr/>
          <p:nvPr/>
        </p:nvSpPr>
        <p:spPr>
          <a:xfrm>
            <a:off x="3200400" y="1234440"/>
            <a:ext cx="2377440" cy="3657600"/>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Une branche = une copie parallèle du projet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main  →  Code stable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feature  →  Nouvelle fonction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fix  →  Correction de bug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git checkout -b ma-branche</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Crée et bascule sur une nouvelle branche !</a:t>
            </a:r>
            <a:endParaRPr lang="en-US" sz="1100" dirty="0"/>
          </a:p>
        </p:txBody>
      </p:sp>
      <p:sp>
        <p:nvSpPr>
          <p:cNvPr id="12" name="Shape 10"/>
          <p:cNvSpPr/>
          <p:nvPr/>
        </p:nvSpPr>
        <p:spPr>
          <a:xfrm>
            <a:off x="5852160" y="804672"/>
            <a:ext cx="2926080" cy="4114800"/>
          </a:xfrm>
          <a:prstGeom prst="rect">
            <a:avLst/>
          </a:prstGeom>
          <a:solidFill>
            <a:srgbClr val="161B22"/>
          </a:solidFill>
          <a:ln w="12700">
            <a:solidFill>
              <a:srgbClr val="BC8CFF"/>
            </a:solidFill>
            <a:prstDash val="solid"/>
          </a:ln>
          <a:effectLst>
            <a:outerShdw blurRad="101600" dist="38100" dir="8100000" algn="bl" rotWithShape="0">
              <a:srgbClr val="000000">
                <a:alpha val="30000"/>
              </a:srgbClr>
            </a:outerShdw>
          </a:effectLst>
        </p:spPr>
      </p:sp>
      <p:sp>
        <p:nvSpPr>
          <p:cNvPr id="13" name="Shape 11"/>
          <p:cNvSpPr/>
          <p:nvPr/>
        </p:nvSpPr>
        <p:spPr>
          <a:xfrm>
            <a:off x="5852160" y="804672"/>
            <a:ext cx="2926080" cy="64008"/>
          </a:xfrm>
          <a:prstGeom prst="rect">
            <a:avLst/>
          </a:prstGeom>
          <a:solidFill>
            <a:srgbClr val="BC8CFF"/>
          </a:solidFill>
          <a:ln w="12700">
            <a:solidFill>
              <a:srgbClr val="BC8CFF"/>
            </a:solidFill>
            <a:prstDash val="solid"/>
          </a:ln>
        </p:spPr>
      </p:sp>
      <p:sp>
        <p:nvSpPr>
          <p:cNvPr id="14" name="Text 12"/>
          <p:cNvSpPr/>
          <p:nvPr/>
        </p:nvSpPr>
        <p:spPr>
          <a:xfrm>
            <a:off x="5943600" y="896112"/>
            <a:ext cx="2743200" cy="320040"/>
          </a:xfrm>
          <a:prstGeom prst="rect">
            <a:avLst/>
          </a:prstGeom>
          <a:noFill/>
          <a:ln/>
        </p:spPr>
        <p:txBody>
          <a:bodyPr wrap="square" lIns="0" tIns="0" rIns="0" bIns="0" rtlCol="0" anchor="ctr"/>
          <a:lstStyle/>
          <a:p>
            <a:pPr marL="0" indent="0">
              <a:buNone/>
            </a:pPr>
            <a:r>
              <a:rPr lang="en-US" sz="1250" b="1" dirty="0">
                <a:solidFill>
                  <a:srgbClr val="BC8CFF"/>
                </a:solidFill>
                <a:latin typeface="Arial Black" pitchFamily="34" charset="0"/>
                <a:ea typeface="Arial Black" pitchFamily="34" charset="-122"/>
                <a:cs typeface="Arial Black" pitchFamily="34" charset="-120"/>
              </a:rPr>
              <a:t>🔀 Pull Request (PR)</a:t>
            </a:r>
            <a:endParaRPr lang="en-US" sz="1250" dirty="0"/>
          </a:p>
        </p:txBody>
      </p:sp>
      <p:sp>
        <p:nvSpPr>
          <p:cNvPr id="15" name="Text 13"/>
          <p:cNvSpPr/>
          <p:nvPr/>
        </p:nvSpPr>
        <p:spPr>
          <a:xfrm>
            <a:off x="5943600" y="1234440"/>
            <a:ext cx="2743200" cy="3657600"/>
          </a:xfrm>
          <a:prstGeom prst="rect">
            <a:avLst/>
          </a:prstGeom>
          <a:noFill/>
          <a:ln/>
        </p:spPr>
        <p:txBody>
          <a:bodyPr wrap="square" lIns="0" tIns="0" rIns="0" bIns="0" rtlCol="0" anchor="ctr"/>
          <a:lstStyle/>
          <a:p>
            <a:pPr marL="0" indent="0">
              <a:buNone/>
            </a:pPr>
            <a:r>
              <a:rPr lang="en-US" sz="1100" dirty="0">
                <a:solidFill>
                  <a:srgbClr val="E6EDF3"/>
                </a:solidFill>
                <a:latin typeface="Calibri" pitchFamily="34" charset="0"/>
                <a:ea typeface="Calibri" pitchFamily="34" charset="-122"/>
                <a:cs typeface="Calibri" pitchFamily="34" charset="-120"/>
              </a:rPr>
              <a:t>Une PR = demande de fusion de ta branche vers main.</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 Étapes d'une PR :</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1. Crée ta branche</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2. Fais tes commits</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3. Push ta branche</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4. Ouvre une PR sur GitHub</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5. Code Review par l'équipe</a:t>
            </a:r>
            <a:endParaRPr lang="en-US" sz="1100" dirty="0"/>
          </a:p>
          <a:p>
            <a:pPr marL="0" indent="0">
              <a:buNone/>
            </a:pPr>
            <a:r>
              <a:rPr lang="en-US" sz="1100" dirty="0">
                <a:solidFill>
                  <a:srgbClr val="E6EDF3"/>
                </a:solidFill>
                <a:latin typeface="Calibri" pitchFamily="34" charset="0"/>
                <a:ea typeface="Calibri" pitchFamily="34" charset="-122"/>
                <a:cs typeface="Calibri" pitchFamily="34" charset="-120"/>
              </a:rPr>
              <a:t>6. Merge dans main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05133"/>
          </a:solidFill>
          <a:ln w="12700">
            <a:solidFill>
              <a:srgbClr val="F05133"/>
            </a:solidFill>
            <a:prstDash val="solid"/>
          </a:ln>
        </p:spPr>
      </p:sp>
      <p:sp>
        <p:nvSpPr>
          <p:cNvPr id="3" name="Text 1"/>
          <p:cNvSpPr/>
          <p:nvPr/>
        </p:nvSpPr>
        <p:spPr>
          <a:xfrm>
            <a:off x="365760" y="137160"/>
            <a:ext cx="8412480" cy="566928"/>
          </a:xfrm>
          <a:prstGeom prst="rect">
            <a:avLst/>
          </a:prstGeom>
          <a:noFill/>
          <a:ln/>
        </p:spPr>
        <p:txBody>
          <a:bodyPr wrap="square" lIns="0" tIns="0" rIns="0" bIns="0" rtlCol="0" anchor="ctr"/>
          <a:lstStyle/>
          <a:p>
            <a:pPr marL="0" indent="0">
              <a:buNone/>
            </a:pPr>
            <a:r>
              <a:rPr lang="en-US" sz="3000" b="1" dirty="0">
                <a:solidFill>
                  <a:srgbClr val="FFFFFF"/>
                </a:solidFill>
                <a:latin typeface="Arial Black" pitchFamily="34" charset="0"/>
                <a:ea typeface="Arial Black" pitchFamily="34" charset="-122"/>
                <a:cs typeface="Arial Black" pitchFamily="34" charset="-120"/>
              </a:rPr>
              <a:t>🎯 Récapitulatif &amp; Conclusion</a:t>
            </a:r>
            <a:endParaRPr lang="en-US" sz="3000" dirty="0"/>
          </a:p>
        </p:txBody>
      </p:sp>
      <p:sp>
        <p:nvSpPr>
          <p:cNvPr id="4" name="Shape 2"/>
          <p:cNvSpPr/>
          <p:nvPr/>
        </p:nvSpPr>
        <p:spPr>
          <a:xfrm>
            <a:off x="365760" y="86868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5" name="Shape 3"/>
          <p:cNvSpPr/>
          <p:nvPr/>
        </p:nvSpPr>
        <p:spPr>
          <a:xfrm>
            <a:off x="365760" y="868680"/>
            <a:ext cx="64008" cy="868680"/>
          </a:xfrm>
          <a:prstGeom prst="rect">
            <a:avLst/>
          </a:prstGeom>
          <a:solidFill>
            <a:srgbClr val="F05133"/>
          </a:solidFill>
          <a:ln w="12700">
            <a:solidFill>
              <a:srgbClr val="F05133"/>
            </a:solidFill>
            <a:prstDash val="solid"/>
          </a:ln>
        </p:spPr>
      </p:sp>
      <p:sp>
        <p:nvSpPr>
          <p:cNvPr id="6" name="Text 4"/>
          <p:cNvSpPr/>
          <p:nvPr/>
        </p:nvSpPr>
        <p:spPr>
          <a:xfrm>
            <a:off x="475488" y="93268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7" name="Text 5"/>
          <p:cNvSpPr/>
          <p:nvPr/>
        </p:nvSpPr>
        <p:spPr>
          <a:xfrm>
            <a:off x="1051560" y="941832"/>
            <a:ext cx="3456432" cy="274320"/>
          </a:xfrm>
          <a:prstGeom prst="rect">
            <a:avLst/>
          </a:prstGeom>
          <a:noFill/>
          <a:ln/>
        </p:spPr>
        <p:txBody>
          <a:bodyPr wrap="square" lIns="0" tIns="0" rIns="0" bIns="0" rtlCol="0" anchor="ctr"/>
          <a:lstStyle/>
          <a:p>
            <a:pPr marL="0" indent="0">
              <a:buNone/>
            </a:pPr>
            <a:r>
              <a:rPr lang="en-US" sz="1300" b="1" dirty="0">
                <a:solidFill>
                  <a:srgbClr val="F05133"/>
                </a:solidFill>
                <a:latin typeface="Arial Black" pitchFamily="34" charset="0"/>
                <a:ea typeface="Arial Black" pitchFamily="34" charset="-122"/>
                <a:cs typeface="Arial Black" pitchFamily="34" charset="-120"/>
              </a:rPr>
              <a:t>Git = VCS</a:t>
            </a:r>
            <a:endParaRPr lang="en-US" sz="1300" dirty="0"/>
          </a:p>
        </p:txBody>
      </p:sp>
      <p:sp>
        <p:nvSpPr>
          <p:cNvPr id="8" name="Text 6"/>
          <p:cNvSpPr/>
          <p:nvPr/>
        </p:nvSpPr>
        <p:spPr>
          <a:xfrm>
            <a:off x="1051560" y="125272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Outil de suivi de versions créé par Linus Torvalds en 2005</a:t>
            </a:r>
            <a:endParaRPr lang="en-US" sz="1050" dirty="0"/>
          </a:p>
        </p:txBody>
      </p:sp>
      <p:sp>
        <p:nvSpPr>
          <p:cNvPr id="9" name="Shape 7"/>
          <p:cNvSpPr/>
          <p:nvPr/>
        </p:nvSpPr>
        <p:spPr>
          <a:xfrm>
            <a:off x="4800600" y="86868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0" name="Shape 8"/>
          <p:cNvSpPr/>
          <p:nvPr/>
        </p:nvSpPr>
        <p:spPr>
          <a:xfrm>
            <a:off x="4800600" y="868680"/>
            <a:ext cx="64008" cy="868680"/>
          </a:xfrm>
          <a:prstGeom prst="rect">
            <a:avLst/>
          </a:prstGeom>
          <a:solidFill>
            <a:srgbClr val="58A6FF"/>
          </a:solidFill>
          <a:ln w="12700">
            <a:solidFill>
              <a:srgbClr val="58A6FF"/>
            </a:solidFill>
            <a:prstDash val="solid"/>
          </a:ln>
        </p:spPr>
      </p:sp>
      <p:sp>
        <p:nvSpPr>
          <p:cNvPr id="11" name="Text 9"/>
          <p:cNvSpPr/>
          <p:nvPr/>
        </p:nvSpPr>
        <p:spPr>
          <a:xfrm>
            <a:off x="4910328" y="93268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5486400" y="941832"/>
            <a:ext cx="3456432" cy="274320"/>
          </a:xfrm>
          <a:prstGeom prst="rect">
            <a:avLst/>
          </a:prstGeom>
          <a:noFill/>
          <a:ln/>
        </p:spPr>
        <p:txBody>
          <a:bodyPr wrap="square" lIns="0" tIns="0" rIns="0" bIns="0" rtlCol="0" anchor="ctr"/>
          <a:lstStyle/>
          <a:p>
            <a:pPr marL="0" indent="0">
              <a:buNone/>
            </a:pPr>
            <a:r>
              <a:rPr lang="en-US" sz="1300" b="1" dirty="0">
                <a:solidFill>
                  <a:srgbClr val="58A6FF"/>
                </a:solidFill>
                <a:latin typeface="Arial Black" pitchFamily="34" charset="0"/>
                <a:ea typeface="Arial Black" pitchFamily="34" charset="-122"/>
                <a:cs typeface="Arial Black" pitchFamily="34" charset="-120"/>
              </a:rPr>
              <a:t>Commit = Snapshot</a:t>
            </a:r>
            <a:endParaRPr lang="en-US" sz="1300" dirty="0"/>
          </a:p>
        </p:txBody>
      </p:sp>
      <p:sp>
        <p:nvSpPr>
          <p:cNvPr id="13" name="Text 11"/>
          <p:cNvSpPr/>
          <p:nvPr/>
        </p:nvSpPr>
        <p:spPr>
          <a:xfrm>
            <a:off x="5486400" y="125272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Chaque commit enregistre l'état de ton projet à un instant T</a:t>
            </a:r>
            <a:endParaRPr lang="en-US" sz="1050" dirty="0"/>
          </a:p>
        </p:txBody>
      </p:sp>
      <p:sp>
        <p:nvSpPr>
          <p:cNvPr id="14" name="Shape 12"/>
          <p:cNvSpPr/>
          <p:nvPr/>
        </p:nvSpPr>
        <p:spPr>
          <a:xfrm>
            <a:off x="365760" y="187452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15" name="Shape 13"/>
          <p:cNvSpPr/>
          <p:nvPr/>
        </p:nvSpPr>
        <p:spPr>
          <a:xfrm>
            <a:off x="365760" y="1874520"/>
            <a:ext cx="64008" cy="868680"/>
          </a:xfrm>
          <a:prstGeom prst="rect">
            <a:avLst/>
          </a:prstGeom>
          <a:solidFill>
            <a:srgbClr val="3FB950"/>
          </a:solidFill>
          <a:ln w="12700">
            <a:solidFill>
              <a:srgbClr val="3FB950"/>
            </a:solidFill>
            <a:prstDash val="solid"/>
          </a:ln>
        </p:spPr>
      </p:sp>
      <p:sp>
        <p:nvSpPr>
          <p:cNvPr id="16" name="Text 14"/>
          <p:cNvSpPr/>
          <p:nvPr/>
        </p:nvSpPr>
        <p:spPr>
          <a:xfrm>
            <a:off x="475488" y="193852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7" name="Text 15"/>
          <p:cNvSpPr/>
          <p:nvPr/>
        </p:nvSpPr>
        <p:spPr>
          <a:xfrm>
            <a:off x="1051560" y="1947672"/>
            <a:ext cx="3456432" cy="274320"/>
          </a:xfrm>
          <a:prstGeom prst="rect">
            <a:avLst/>
          </a:prstGeom>
          <a:noFill/>
          <a:ln/>
        </p:spPr>
        <p:txBody>
          <a:bodyPr wrap="square" lIns="0" tIns="0" rIns="0" bIns="0" rtlCol="0" anchor="ctr"/>
          <a:lstStyle/>
          <a:p>
            <a:pPr marL="0" indent="0">
              <a:buNone/>
            </a:pPr>
            <a:r>
              <a:rPr lang="en-US" sz="1300" b="1" dirty="0">
                <a:solidFill>
                  <a:srgbClr val="3FB950"/>
                </a:solidFill>
                <a:latin typeface="Arial Black" pitchFamily="34" charset="0"/>
                <a:ea typeface="Arial Black" pitchFamily="34" charset="-122"/>
                <a:cs typeface="Arial Black" pitchFamily="34" charset="-120"/>
              </a:rPr>
              <a:t>Le Cycle Git</a:t>
            </a:r>
            <a:endParaRPr lang="en-US" sz="1300" dirty="0"/>
          </a:p>
        </p:txBody>
      </p:sp>
      <p:sp>
        <p:nvSpPr>
          <p:cNvPr id="18" name="Text 16"/>
          <p:cNvSpPr/>
          <p:nvPr/>
        </p:nvSpPr>
        <p:spPr>
          <a:xfrm>
            <a:off x="1051560" y="225856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Modifier → git add → git commit → git push</a:t>
            </a:r>
            <a:endParaRPr lang="en-US" sz="1050" dirty="0"/>
          </a:p>
        </p:txBody>
      </p:sp>
      <p:sp>
        <p:nvSpPr>
          <p:cNvPr id="19" name="Shape 17"/>
          <p:cNvSpPr/>
          <p:nvPr/>
        </p:nvSpPr>
        <p:spPr>
          <a:xfrm>
            <a:off x="4800600" y="187452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0" name="Shape 18"/>
          <p:cNvSpPr/>
          <p:nvPr/>
        </p:nvSpPr>
        <p:spPr>
          <a:xfrm>
            <a:off x="4800600" y="1874520"/>
            <a:ext cx="64008" cy="868680"/>
          </a:xfrm>
          <a:prstGeom prst="rect">
            <a:avLst/>
          </a:prstGeom>
          <a:solidFill>
            <a:srgbClr val="BC8CFF"/>
          </a:solidFill>
          <a:ln w="12700">
            <a:solidFill>
              <a:srgbClr val="BC8CFF"/>
            </a:solidFill>
            <a:prstDash val="solid"/>
          </a:ln>
        </p:spPr>
      </p:sp>
      <p:sp>
        <p:nvSpPr>
          <p:cNvPr id="21" name="Text 19"/>
          <p:cNvSpPr/>
          <p:nvPr/>
        </p:nvSpPr>
        <p:spPr>
          <a:xfrm>
            <a:off x="4910328" y="193852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5486400" y="1947672"/>
            <a:ext cx="3456432" cy="274320"/>
          </a:xfrm>
          <a:prstGeom prst="rect">
            <a:avLst/>
          </a:prstGeom>
          <a:noFill/>
          <a:ln/>
        </p:spPr>
        <p:txBody>
          <a:bodyPr wrap="square" lIns="0" tIns="0" rIns="0" bIns="0" rtlCol="0" anchor="ctr"/>
          <a:lstStyle/>
          <a:p>
            <a:pPr marL="0" indent="0">
              <a:buNone/>
            </a:pPr>
            <a:r>
              <a:rPr lang="en-US" sz="1300" b="1" dirty="0">
                <a:solidFill>
                  <a:srgbClr val="BC8CFF"/>
                </a:solidFill>
                <a:latin typeface="Arial Black" pitchFamily="34" charset="0"/>
                <a:ea typeface="Arial Black" pitchFamily="34" charset="-122"/>
                <a:cs typeface="Arial Black" pitchFamily="34" charset="-120"/>
              </a:rPr>
              <a:t>Les Branches</a:t>
            </a:r>
            <a:endParaRPr lang="en-US" sz="1300" dirty="0"/>
          </a:p>
        </p:txBody>
      </p:sp>
      <p:sp>
        <p:nvSpPr>
          <p:cNvPr id="23" name="Text 21"/>
          <p:cNvSpPr/>
          <p:nvPr/>
        </p:nvSpPr>
        <p:spPr>
          <a:xfrm>
            <a:off x="5486400" y="225856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Travaille en parallèle sans impacter le code stable de main</a:t>
            </a:r>
            <a:endParaRPr lang="en-US" sz="1050" dirty="0"/>
          </a:p>
        </p:txBody>
      </p:sp>
      <p:sp>
        <p:nvSpPr>
          <p:cNvPr id="24" name="Shape 22"/>
          <p:cNvSpPr/>
          <p:nvPr/>
        </p:nvSpPr>
        <p:spPr>
          <a:xfrm>
            <a:off x="365760" y="288036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25" name="Shape 23"/>
          <p:cNvSpPr/>
          <p:nvPr/>
        </p:nvSpPr>
        <p:spPr>
          <a:xfrm>
            <a:off x="365760" y="2880360"/>
            <a:ext cx="64008" cy="868680"/>
          </a:xfrm>
          <a:prstGeom prst="rect">
            <a:avLst/>
          </a:prstGeom>
          <a:solidFill>
            <a:srgbClr val="E3B341"/>
          </a:solidFill>
          <a:ln w="12700">
            <a:solidFill>
              <a:srgbClr val="E3B341"/>
            </a:solidFill>
            <a:prstDash val="solid"/>
          </a:ln>
        </p:spPr>
      </p:sp>
      <p:sp>
        <p:nvSpPr>
          <p:cNvPr id="26" name="Text 24"/>
          <p:cNvSpPr/>
          <p:nvPr/>
        </p:nvSpPr>
        <p:spPr>
          <a:xfrm>
            <a:off x="475488" y="294436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7" name="Text 25"/>
          <p:cNvSpPr/>
          <p:nvPr/>
        </p:nvSpPr>
        <p:spPr>
          <a:xfrm>
            <a:off x="1051560" y="2953512"/>
            <a:ext cx="3456432" cy="274320"/>
          </a:xfrm>
          <a:prstGeom prst="rect">
            <a:avLst/>
          </a:prstGeom>
          <a:noFill/>
          <a:ln/>
        </p:spPr>
        <p:txBody>
          <a:bodyPr wrap="square" lIns="0" tIns="0" rIns="0" bIns="0" rtlCol="0" anchor="ctr"/>
          <a:lstStyle/>
          <a:p>
            <a:pPr marL="0" indent="0">
              <a:buNone/>
            </a:pPr>
            <a:r>
              <a:rPr lang="en-US" sz="1300" b="1" dirty="0">
                <a:solidFill>
                  <a:srgbClr val="E3B341"/>
                </a:solidFill>
                <a:latin typeface="Arial Black" pitchFamily="34" charset="0"/>
                <a:ea typeface="Arial Black" pitchFamily="34" charset="-122"/>
                <a:cs typeface="Arial Black" pitchFamily="34" charset="-120"/>
              </a:rPr>
              <a:t>GitHub</a:t>
            </a:r>
            <a:endParaRPr lang="en-US" sz="1300" dirty="0"/>
          </a:p>
        </p:txBody>
      </p:sp>
      <p:sp>
        <p:nvSpPr>
          <p:cNvPr id="28" name="Text 26"/>
          <p:cNvSpPr/>
          <p:nvPr/>
        </p:nvSpPr>
        <p:spPr>
          <a:xfrm>
            <a:off x="1051560" y="326440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Plateforme cloud pour héberger, partager et collaborer sur Git</a:t>
            </a:r>
            <a:endParaRPr lang="en-US" sz="1050" dirty="0"/>
          </a:p>
        </p:txBody>
      </p:sp>
      <p:sp>
        <p:nvSpPr>
          <p:cNvPr id="29" name="Shape 27"/>
          <p:cNvSpPr/>
          <p:nvPr/>
        </p:nvSpPr>
        <p:spPr>
          <a:xfrm>
            <a:off x="4800600" y="2880360"/>
            <a:ext cx="4251960" cy="868680"/>
          </a:xfrm>
          <a:prstGeom prst="rect">
            <a:avLst/>
          </a:prstGeom>
          <a:solidFill>
            <a:srgbClr val="161B22"/>
          </a:solidFill>
          <a:ln w="12700">
            <a:solidFill>
              <a:srgbClr val="21262D"/>
            </a:solidFill>
            <a:prstDash val="solid"/>
          </a:ln>
          <a:effectLst>
            <a:outerShdw blurRad="101600" dist="38100" dir="8100000" algn="bl" rotWithShape="0">
              <a:srgbClr val="000000">
                <a:alpha val="30000"/>
              </a:srgbClr>
            </a:outerShdw>
          </a:effectLst>
        </p:spPr>
      </p:sp>
      <p:sp>
        <p:nvSpPr>
          <p:cNvPr id="30" name="Shape 28"/>
          <p:cNvSpPr/>
          <p:nvPr/>
        </p:nvSpPr>
        <p:spPr>
          <a:xfrm>
            <a:off x="4800600" y="2880360"/>
            <a:ext cx="64008" cy="868680"/>
          </a:xfrm>
          <a:prstGeom prst="rect">
            <a:avLst/>
          </a:prstGeom>
          <a:solidFill>
            <a:srgbClr val="F05133"/>
          </a:solidFill>
          <a:ln w="12700">
            <a:solidFill>
              <a:srgbClr val="F05133"/>
            </a:solidFill>
            <a:prstDash val="solid"/>
          </a:ln>
        </p:spPr>
      </p:sp>
      <p:sp>
        <p:nvSpPr>
          <p:cNvPr id="31" name="Text 29"/>
          <p:cNvSpPr/>
          <p:nvPr/>
        </p:nvSpPr>
        <p:spPr>
          <a:xfrm>
            <a:off x="4910328" y="2944368"/>
            <a:ext cx="54864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5486400" y="2953512"/>
            <a:ext cx="3456432" cy="274320"/>
          </a:xfrm>
          <a:prstGeom prst="rect">
            <a:avLst/>
          </a:prstGeom>
          <a:noFill/>
          <a:ln/>
        </p:spPr>
        <p:txBody>
          <a:bodyPr wrap="square" lIns="0" tIns="0" rIns="0" bIns="0" rtlCol="0" anchor="ctr"/>
          <a:lstStyle/>
          <a:p>
            <a:pPr marL="0" indent="0">
              <a:buNone/>
            </a:pPr>
            <a:r>
              <a:rPr lang="en-US" sz="1300" b="1" dirty="0">
                <a:solidFill>
                  <a:srgbClr val="F05133"/>
                </a:solidFill>
                <a:latin typeface="Arial Black" pitchFamily="34" charset="0"/>
                <a:ea typeface="Arial Black" pitchFamily="34" charset="-122"/>
                <a:cs typeface="Arial Black" pitchFamily="34" charset="-120"/>
              </a:rPr>
              <a:t>Pull Request</a:t>
            </a:r>
            <a:endParaRPr lang="en-US" sz="1300" dirty="0"/>
          </a:p>
        </p:txBody>
      </p:sp>
      <p:sp>
        <p:nvSpPr>
          <p:cNvPr id="33" name="Text 31"/>
          <p:cNvSpPr/>
          <p:nvPr/>
        </p:nvSpPr>
        <p:spPr>
          <a:xfrm>
            <a:off x="5486400" y="3264408"/>
            <a:ext cx="3456432" cy="420624"/>
          </a:xfrm>
          <a:prstGeom prst="rect">
            <a:avLst/>
          </a:prstGeom>
          <a:noFill/>
          <a:ln/>
        </p:spPr>
        <p:txBody>
          <a:bodyPr wrap="square" lIns="0" tIns="0" rIns="0" bIns="0" rtlCol="0" anchor="ctr"/>
          <a:lstStyle/>
          <a:p>
            <a:pPr marL="0" indent="0">
              <a:buNone/>
            </a:pPr>
            <a:r>
              <a:rPr lang="en-US" sz="1050" dirty="0">
                <a:solidFill>
                  <a:srgbClr val="E6EDF3"/>
                </a:solidFill>
                <a:latin typeface="Calibri" pitchFamily="34" charset="0"/>
                <a:ea typeface="Calibri" pitchFamily="34" charset="-122"/>
                <a:cs typeface="Calibri" pitchFamily="34" charset="-120"/>
              </a:rPr>
              <a:t>La façon élégante de proposer du code et de le faire réviser</a:t>
            </a:r>
            <a:endParaRPr lang="en-US" sz="1050" dirty="0"/>
          </a:p>
        </p:txBody>
      </p:sp>
      <p:sp>
        <p:nvSpPr>
          <p:cNvPr id="34" name="Shape 32"/>
          <p:cNvSpPr/>
          <p:nvPr/>
        </p:nvSpPr>
        <p:spPr>
          <a:xfrm>
            <a:off x="365760" y="3977640"/>
            <a:ext cx="8412480" cy="804672"/>
          </a:xfrm>
          <a:prstGeom prst="rect">
            <a:avLst/>
          </a:prstGeom>
          <a:solidFill>
            <a:srgbClr val="F05133"/>
          </a:solidFill>
          <a:ln w="12700">
            <a:solidFill>
              <a:srgbClr val="F05133"/>
            </a:solidFill>
            <a:prstDash val="solid"/>
          </a:ln>
          <a:effectLst>
            <a:outerShdw blurRad="101600" dist="38100" dir="8100000" algn="bl" rotWithShape="0">
              <a:srgbClr val="000000">
                <a:alpha val="30000"/>
              </a:srgbClr>
            </a:outerShdw>
          </a:effectLst>
        </p:spPr>
      </p:sp>
      <p:sp>
        <p:nvSpPr>
          <p:cNvPr id="35" name="Text 33"/>
          <p:cNvSpPr/>
          <p:nvPr/>
        </p:nvSpPr>
        <p:spPr>
          <a:xfrm>
            <a:off x="457200" y="4142232"/>
            <a:ext cx="8229600" cy="47548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Black" pitchFamily="34" charset="0"/>
                <a:ea typeface="Arial Black" pitchFamily="34" charset="-122"/>
                <a:cs typeface="Arial Black" pitchFamily="34" charset="-120"/>
              </a:rPr>
              <a:t>🚀  Prêt à coder ?  →  github.com  |  git --version  |  Bon courage à tous ! 💪</a:t>
            </a:r>
            <a:endParaRPr lang="en-US" sz="1500" dirty="0"/>
          </a:p>
        </p:txBody>
      </p:sp>
      <p:sp>
        <p:nvSpPr>
          <p:cNvPr id="36" name="Shape 34"/>
          <p:cNvSpPr/>
          <p:nvPr/>
        </p:nvSpPr>
        <p:spPr>
          <a:xfrm>
            <a:off x="0" y="4983480"/>
            <a:ext cx="9144000" cy="160020"/>
          </a:xfrm>
          <a:prstGeom prst="rect">
            <a:avLst/>
          </a:prstGeom>
          <a:solidFill>
            <a:srgbClr val="161B22"/>
          </a:solidFill>
          <a:ln w="12700">
            <a:solidFill>
              <a:srgbClr val="161B22"/>
            </a:solidFill>
            <a:prstDash val="solid"/>
          </a:ln>
        </p:spPr>
      </p:sp>
      <p:sp>
        <p:nvSpPr>
          <p:cNvPr id="37" name="Text 35"/>
          <p:cNvSpPr/>
          <p:nvPr/>
        </p:nvSpPr>
        <p:spPr>
          <a:xfrm>
            <a:off x="274320" y="4992624"/>
            <a:ext cx="8595360" cy="128016"/>
          </a:xfrm>
          <a:prstGeom prst="rect">
            <a:avLst/>
          </a:prstGeom>
          <a:noFill/>
          <a:ln/>
        </p:spPr>
        <p:txBody>
          <a:bodyPr wrap="square" lIns="0" tIns="0" rIns="0" bIns="0" rtlCol="0" anchor="ctr"/>
          <a:lstStyle/>
          <a:p>
            <a:pPr marL="0" indent="0" algn="ctr">
              <a:buNone/>
            </a:pPr>
            <a:r>
              <a:rPr lang="en-US" sz="1000" dirty="0">
                <a:solidFill>
                  <a:srgbClr val="3FB950"/>
                </a:solidFill>
                <a:latin typeface="Consolas" pitchFamily="34" charset="0"/>
                <a:ea typeface="Consolas" pitchFamily="34" charset="-122"/>
                <a:cs typeface="Consolas" pitchFamily="34" charset="-120"/>
              </a:rPr>
              <a:t>git commit -m "Cours Git &amp; GitHub terminé avec succès 🎉" &amp;&amp; git push origin main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1187</TotalTime>
  <Words>939</Words>
  <Application>Microsoft Office PowerPoint</Application>
  <PresentationFormat>Affichage à l'écran (16:9)</PresentationFormat>
  <Paragraphs>189</Paragraphs>
  <Slides>10</Slides>
  <Notes>10</Notes>
  <HiddenSlides>0</HiddenSlides>
  <MMClips>0</MMClips>
  <ScaleCrop>false</ScaleCrop>
  <HeadingPairs>
    <vt:vector size="4" baseType="variant">
      <vt:variant>
        <vt:lpstr>Thème</vt:lpstr>
      </vt:variant>
      <vt:variant>
        <vt:i4>1</vt:i4>
      </vt:variant>
      <vt:variant>
        <vt:lpstr>Titres des diapositives</vt:lpstr>
      </vt:variant>
      <vt:variant>
        <vt:i4>10</vt:i4>
      </vt:variant>
    </vt:vector>
  </HeadingPairs>
  <TitlesOfParts>
    <vt:vector size="11"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 - Maîtriser le Contrôle de Version</dc:title>
  <dc:subject>PptxGenJS Presentation</dc:subject>
  <dc:creator>PptxGenJS</dc:creator>
  <cp:lastModifiedBy>AYA</cp:lastModifiedBy>
  <cp:revision>11</cp:revision>
  <dcterms:created xsi:type="dcterms:W3CDTF">2026-03-25T18:59:04Z</dcterms:created>
  <dcterms:modified xsi:type="dcterms:W3CDTF">2026-03-28T17:21:07Z</dcterms:modified>
</cp:coreProperties>
</file>